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rgbClr val="1B1B2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3B393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preencoded.pn</a:t>
            </a:r>
            <a:r>
              <a:rPr dirty="0" spc="75"/>
              <a:t> </a:t>
            </a:r>
            <a:r>
              <a:rPr dirty="0" spc="-50"/>
              <a:t>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1B1B2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rgbClr val="3B393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preencoded.pn</a:t>
            </a:r>
            <a:r>
              <a:rPr dirty="0" spc="75"/>
              <a:t> </a:t>
            </a:r>
            <a:r>
              <a:rPr dirty="0" spc="-50"/>
              <a:t>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1B1B2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preencoded.pn</a:t>
            </a:r>
            <a:r>
              <a:rPr dirty="0" spc="75"/>
              <a:t> </a:t>
            </a:r>
            <a:r>
              <a:rPr dirty="0" spc="-50"/>
              <a:t>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065" y="7748902"/>
            <a:ext cx="1722119" cy="41147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52665" y="-1"/>
            <a:ext cx="5486400" cy="8229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1B1B2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preencoded.pn</a:t>
            </a:r>
            <a:r>
              <a:rPr dirty="0" spc="75"/>
              <a:t> </a:t>
            </a:r>
            <a:r>
              <a:rPr dirty="0" spc="-50"/>
              <a:t>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preencoded.pn</a:t>
            </a:r>
            <a:r>
              <a:rPr dirty="0" spc="75"/>
              <a:t> </a:t>
            </a:r>
            <a:r>
              <a:rPr dirty="0" spc="-50"/>
              <a:t>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065" y="7748902"/>
            <a:ext cx="1722119" cy="41147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2140" y="160922"/>
            <a:ext cx="8638540" cy="1096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rgbClr val="1B1B2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0067" y="1887981"/>
            <a:ext cx="5929630" cy="21418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3B393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2828269" y="7745983"/>
            <a:ext cx="123190" cy="38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preencoded.pn</a:t>
            </a:r>
            <a:r>
              <a:rPr dirty="0" spc="75"/>
              <a:t> </a:t>
            </a:r>
            <a:r>
              <a:rPr dirty="0" spc="-50"/>
              <a:t>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5544" y="-1"/>
            <a:ext cx="5303520" cy="816863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2159" y="336854"/>
            <a:ext cx="4834890" cy="29337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07200"/>
              </a:lnSpc>
              <a:spcBef>
                <a:spcPts val="100"/>
              </a:spcBef>
            </a:pPr>
            <a:r>
              <a:rPr dirty="0" sz="4450"/>
              <a:t>Machine</a:t>
            </a:r>
            <a:r>
              <a:rPr dirty="0" sz="4450" spc="-170"/>
              <a:t> </a:t>
            </a:r>
            <a:r>
              <a:rPr dirty="0" sz="4450" spc="-10"/>
              <a:t>Learning </a:t>
            </a:r>
            <a:r>
              <a:rPr dirty="0" sz="4450"/>
              <a:t>Essentials</a:t>
            </a:r>
            <a:r>
              <a:rPr dirty="0" sz="4450" spc="-175"/>
              <a:t> </a:t>
            </a:r>
            <a:r>
              <a:rPr dirty="0" sz="4450"/>
              <a:t>(for</a:t>
            </a:r>
            <a:r>
              <a:rPr dirty="0" sz="4450" spc="-180"/>
              <a:t> </a:t>
            </a:r>
            <a:r>
              <a:rPr dirty="0" sz="4450" spc="-10"/>
              <a:t>Netflix </a:t>
            </a:r>
            <a:r>
              <a:rPr dirty="0" sz="4450"/>
              <a:t>Movies</a:t>
            </a:r>
            <a:r>
              <a:rPr dirty="0" sz="4450" spc="-35"/>
              <a:t> </a:t>
            </a:r>
            <a:r>
              <a:rPr dirty="0" sz="4450"/>
              <a:t>&amp;</a:t>
            </a:r>
            <a:r>
              <a:rPr dirty="0" sz="4450" spc="-30"/>
              <a:t> </a:t>
            </a:r>
            <a:r>
              <a:rPr dirty="0" sz="4450"/>
              <a:t>TV</a:t>
            </a:r>
            <a:r>
              <a:rPr dirty="0" sz="4450" spc="-35"/>
              <a:t> </a:t>
            </a:r>
            <a:r>
              <a:rPr dirty="0" sz="4450" spc="-10"/>
              <a:t>Shows Dataset)</a:t>
            </a:r>
            <a:endParaRPr sz="4450"/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preencoded.pn</a:t>
            </a:r>
            <a:r>
              <a:rPr dirty="0" spc="75"/>
              <a:t> </a:t>
            </a:r>
            <a:r>
              <a:rPr dirty="0" spc="-50"/>
              <a:t>g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72159" y="3325495"/>
            <a:ext cx="5026660" cy="1682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1590">
              <a:lnSpc>
                <a:spcPct val="100000"/>
              </a:lnSpc>
              <a:spcBef>
                <a:spcPts val="100"/>
              </a:spcBef>
            </a:pP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Classification</a:t>
            </a:r>
            <a:r>
              <a:rPr dirty="0" sz="175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•</a:t>
            </a:r>
            <a:r>
              <a:rPr dirty="0" sz="175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Clustering</a:t>
            </a:r>
            <a:r>
              <a:rPr dirty="0" sz="175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•</a:t>
            </a:r>
            <a:r>
              <a:rPr dirty="0" sz="175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Recommendation</a:t>
            </a:r>
            <a:r>
              <a:rPr dirty="0" sz="175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System</a:t>
            </a:r>
            <a:endParaRPr sz="1750">
              <a:latin typeface="Calibri"/>
              <a:cs typeface="Calibri"/>
            </a:endParaRPr>
          </a:p>
          <a:p>
            <a:pPr algn="just" marL="21590" marR="5080" indent="-9525">
              <a:lnSpc>
                <a:spcPct val="141200"/>
              </a:lnSpc>
              <a:spcBef>
                <a:spcPts val="1910"/>
              </a:spcBef>
            </a:pP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Presented</a:t>
            </a:r>
            <a:r>
              <a:rPr dirty="0" sz="175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by</a:t>
            </a:r>
            <a:r>
              <a:rPr dirty="0" sz="1750" spc="-2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:</a:t>
            </a:r>
            <a:r>
              <a:rPr dirty="0" sz="175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Sultan</a:t>
            </a:r>
            <a:r>
              <a:rPr dirty="0" sz="175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&amp;</a:t>
            </a:r>
            <a:r>
              <a:rPr dirty="0" sz="1750" spc="-2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Daniyal</a:t>
            </a:r>
            <a:r>
              <a:rPr dirty="0" sz="1750" spc="-2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Saeed</a:t>
            </a:r>
            <a:r>
              <a:rPr dirty="0" sz="175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|</a:t>
            </a:r>
            <a:r>
              <a:rPr dirty="0" sz="175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56189</a:t>
            </a:r>
            <a:r>
              <a:rPr dirty="0" sz="175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&amp;</a:t>
            </a:r>
            <a:r>
              <a:rPr dirty="0" sz="1750" spc="-2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53937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Course</a:t>
            </a:r>
            <a:r>
              <a:rPr dirty="0" sz="17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:</a:t>
            </a:r>
            <a:r>
              <a:rPr dirty="0" sz="17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B1B27"/>
                </a:solidFill>
                <a:latin typeface="Calibri"/>
                <a:cs typeface="Calibri"/>
              </a:rPr>
              <a:t>Machine</a:t>
            </a:r>
            <a:r>
              <a:rPr dirty="0" sz="1800" spc="-55">
                <a:solidFill>
                  <a:srgbClr val="1B1B27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B1B27"/>
                </a:solidFill>
                <a:latin typeface="Calibri"/>
                <a:cs typeface="Calibri"/>
              </a:rPr>
              <a:t>Learning</a:t>
            </a:r>
            <a:r>
              <a:rPr dirty="0" sz="1800" spc="-50">
                <a:solidFill>
                  <a:srgbClr val="1B1B27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B1B27"/>
                </a:solidFill>
                <a:latin typeface="Calibri"/>
                <a:cs typeface="Calibri"/>
              </a:rPr>
              <a:t>Essentials</a:t>
            </a:r>
            <a:r>
              <a:rPr dirty="0" sz="1800" spc="-65">
                <a:solidFill>
                  <a:srgbClr val="1B1B27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Semester</a:t>
            </a:r>
            <a:r>
              <a:rPr dirty="0" sz="17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Project Instructor</a:t>
            </a:r>
            <a:r>
              <a:rPr dirty="0" sz="175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:</a:t>
            </a:r>
            <a:r>
              <a:rPr dirty="0" sz="175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Sir</a:t>
            </a:r>
            <a:r>
              <a:rPr dirty="0" sz="1750" spc="-2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Muhammad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Imran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Khan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7095" rIns="0" bIns="0" rtlCol="0" vert="horz">
            <a:spAutoFit/>
          </a:bodyPr>
          <a:lstStyle/>
          <a:p>
            <a:pPr marL="172085">
              <a:lnSpc>
                <a:spcPct val="100000"/>
              </a:lnSpc>
              <a:spcBef>
                <a:spcPts val="100"/>
              </a:spcBef>
            </a:pPr>
            <a:r>
              <a:rPr dirty="0" sz="4450" spc="-10"/>
              <a:t>Introduction</a:t>
            </a:r>
            <a:r>
              <a:rPr dirty="0" sz="4450" spc="-110"/>
              <a:t> </a:t>
            </a:r>
            <a:r>
              <a:rPr dirty="0" sz="4450"/>
              <a:t>to</a:t>
            </a:r>
            <a:r>
              <a:rPr dirty="0" sz="4450" spc="-105"/>
              <a:t> </a:t>
            </a:r>
            <a:r>
              <a:rPr dirty="0" sz="4450"/>
              <a:t>the</a:t>
            </a:r>
            <a:r>
              <a:rPr dirty="0" sz="4450" spc="-114"/>
              <a:t> </a:t>
            </a:r>
            <a:r>
              <a:rPr dirty="0" sz="4450" spc="-10"/>
              <a:t>Project</a:t>
            </a:r>
            <a:endParaRPr sz="4450"/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preencoded.pn</a:t>
            </a:r>
            <a:r>
              <a:rPr dirty="0" spc="75"/>
              <a:t> </a:t>
            </a:r>
            <a:r>
              <a:rPr dirty="0" spc="-50"/>
              <a:t>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940" y="421005"/>
            <a:ext cx="3672078" cy="296290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81220" y="421005"/>
            <a:ext cx="3672205" cy="296290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9940" y="3603116"/>
            <a:ext cx="7563484" cy="2236978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preencoded.pn</a:t>
            </a:r>
            <a:r>
              <a:rPr dirty="0" spc="75"/>
              <a:t> </a:t>
            </a:r>
            <a:r>
              <a:rPr dirty="0" spc="-50"/>
              <a:t>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7095" rIns="0" bIns="0" rtlCol="0" vert="horz">
            <a:spAutoFit/>
          </a:bodyPr>
          <a:lstStyle/>
          <a:p>
            <a:pPr marL="172085">
              <a:lnSpc>
                <a:spcPct val="100000"/>
              </a:lnSpc>
              <a:spcBef>
                <a:spcPts val="100"/>
              </a:spcBef>
            </a:pPr>
            <a:r>
              <a:rPr dirty="0" sz="4450" spc="-10"/>
              <a:t>Understanding</a:t>
            </a:r>
            <a:r>
              <a:rPr dirty="0" sz="4450" spc="-140"/>
              <a:t> </a:t>
            </a:r>
            <a:r>
              <a:rPr dirty="0" sz="4450"/>
              <a:t>the</a:t>
            </a:r>
            <a:r>
              <a:rPr dirty="0" sz="4450" spc="-135"/>
              <a:t> </a:t>
            </a:r>
            <a:r>
              <a:rPr dirty="0" sz="4450"/>
              <a:t>Netflix</a:t>
            </a:r>
            <a:r>
              <a:rPr dirty="0" sz="4450" spc="-140"/>
              <a:t> </a:t>
            </a:r>
            <a:r>
              <a:rPr dirty="0" sz="4450" spc="-10"/>
              <a:t>Dataset</a:t>
            </a:r>
            <a:endParaRPr sz="4450"/>
          </a:p>
        </p:txBody>
      </p:sp>
      <p:sp>
        <p:nvSpPr>
          <p:cNvPr id="3" name="object 3" descr=""/>
          <p:cNvSpPr txBox="1"/>
          <p:nvPr/>
        </p:nvSpPr>
        <p:spPr>
          <a:xfrm>
            <a:off x="772159" y="1290878"/>
            <a:ext cx="7822565" cy="3340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208915" indent="-6350">
              <a:lnSpc>
                <a:spcPct val="138300"/>
              </a:lnSpc>
              <a:spcBef>
                <a:spcPts val="100"/>
              </a:spcBef>
            </a:pP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The</a:t>
            </a:r>
            <a:r>
              <a:rPr dirty="0" sz="175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Netflix</a:t>
            </a:r>
            <a:r>
              <a:rPr dirty="0" sz="175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dataset</a:t>
            </a:r>
            <a:r>
              <a:rPr dirty="0" sz="175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is</a:t>
            </a:r>
            <a:r>
              <a:rPr dirty="0" sz="175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a</a:t>
            </a:r>
            <a:r>
              <a:rPr dirty="0" sz="175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rich</a:t>
            </a:r>
            <a:r>
              <a:rPr dirty="0" sz="175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source</a:t>
            </a:r>
            <a:r>
              <a:rPr dirty="0" sz="175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of</a:t>
            </a:r>
            <a:r>
              <a:rPr dirty="0" sz="175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information,</a:t>
            </a:r>
            <a:r>
              <a:rPr dirty="0" sz="175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crucial</a:t>
            </a:r>
            <a:r>
              <a:rPr dirty="0" sz="175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for</a:t>
            </a:r>
            <a:r>
              <a:rPr dirty="0" sz="175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our</a:t>
            </a:r>
            <a:r>
              <a:rPr dirty="0" sz="175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analysis.</a:t>
            </a:r>
            <a:r>
              <a:rPr dirty="0" sz="175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It</a:t>
            </a:r>
            <a:r>
              <a:rPr dirty="0" sz="175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contains detailed</a:t>
            </a:r>
            <a:r>
              <a:rPr dirty="0" sz="17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metadata</a:t>
            </a:r>
            <a:r>
              <a:rPr dirty="0" sz="175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for</a:t>
            </a:r>
            <a:r>
              <a:rPr dirty="0" sz="175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each</a:t>
            </a:r>
            <a:r>
              <a:rPr dirty="0" sz="175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title.</a:t>
            </a:r>
            <a:endParaRPr sz="1750">
              <a:latin typeface="Calibri"/>
              <a:cs typeface="Calibri"/>
            </a:endParaRPr>
          </a:p>
          <a:p>
            <a:pPr marL="355600" marR="387985" indent="-342900">
              <a:lnSpc>
                <a:spcPct val="138300"/>
              </a:lnSpc>
              <a:spcBef>
                <a:spcPts val="1630"/>
              </a:spcBef>
              <a:buChar char="•"/>
              <a:tabLst>
                <a:tab pos="355600" algn="l"/>
              </a:tabLst>
            </a:pP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Key</a:t>
            </a:r>
            <a:r>
              <a:rPr dirty="0" sz="17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Attributes:</a:t>
            </a:r>
            <a:r>
              <a:rPr dirty="0" sz="175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Title,</a:t>
            </a:r>
            <a:r>
              <a:rPr dirty="0" sz="175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type,</a:t>
            </a:r>
            <a:r>
              <a:rPr dirty="0" sz="175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25">
                <a:solidFill>
                  <a:srgbClr val="3B3939"/>
                </a:solidFill>
                <a:latin typeface="Calibri"/>
                <a:cs typeface="Calibri"/>
              </a:rPr>
              <a:t>director,</a:t>
            </a:r>
            <a:r>
              <a:rPr dirty="0" sz="17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cast,</a:t>
            </a:r>
            <a:r>
              <a:rPr dirty="0" sz="175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20">
                <a:solidFill>
                  <a:srgbClr val="3B3939"/>
                </a:solidFill>
                <a:latin typeface="Calibri"/>
                <a:cs typeface="Calibri"/>
              </a:rPr>
              <a:t>country,</a:t>
            </a:r>
            <a:r>
              <a:rPr dirty="0" sz="17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release</a:t>
            </a:r>
            <a:r>
              <a:rPr dirty="0" sz="1750" spc="-6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30">
                <a:solidFill>
                  <a:srgbClr val="3B3939"/>
                </a:solidFill>
                <a:latin typeface="Calibri"/>
                <a:cs typeface="Calibri"/>
              </a:rPr>
              <a:t>year,</a:t>
            </a:r>
            <a:r>
              <a:rPr dirty="0" sz="17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rating,</a:t>
            </a:r>
            <a:r>
              <a:rPr dirty="0" sz="17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duration, genres,</a:t>
            </a:r>
            <a:r>
              <a:rPr dirty="0" sz="175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description.</a:t>
            </a:r>
            <a:endParaRPr sz="1750">
              <a:latin typeface="Calibri"/>
              <a:cs typeface="Calibri"/>
            </a:endParaRPr>
          </a:p>
          <a:p>
            <a:pPr marL="355600" marR="5080" indent="-342900">
              <a:lnSpc>
                <a:spcPct val="138300"/>
              </a:lnSpc>
              <a:spcBef>
                <a:spcPts val="640"/>
              </a:spcBef>
              <a:buChar char="•"/>
              <a:tabLst>
                <a:tab pos="355600" algn="l"/>
              </a:tabLst>
            </a:pP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Analytical</a:t>
            </a:r>
            <a:r>
              <a:rPr dirty="0" sz="1750" spc="-6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Potential:</a:t>
            </a:r>
            <a:r>
              <a:rPr dirty="0" sz="17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Supports</a:t>
            </a:r>
            <a:r>
              <a:rPr dirty="0" sz="17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diverse</a:t>
            </a:r>
            <a:r>
              <a:rPr dirty="0" sz="17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analyses</a:t>
            </a:r>
            <a:r>
              <a:rPr dirty="0" sz="1750" spc="-7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including</a:t>
            </a:r>
            <a:r>
              <a:rPr dirty="0" sz="175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Exploratory</a:t>
            </a:r>
            <a:r>
              <a:rPr dirty="0" sz="17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Data</a:t>
            </a:r>
            <a:r>
              <a:rPr dirty="0" sz="1750" spc="-6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Analysis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(EDA),</a:t>
            </a:r>
            <a:r>
              <a:rPr dirty="0" sz="175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classification,</a:t>
            </a:r>
            <a:r>
              <a:rPr dirty="0" sz="175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clustering,</a:t>
            </a:r>
            <a:r>
              <a:rPr dirty="0" sz="175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and</a:t>
            </a:r>
            <a:r>
              <a:rPr dirty="0" sz="175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the</a:t>
            </a:r>
            <a:r>
              <a:rPr dirty="0" sz="175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development</a:t>
            </a:r>
            <a:r>
              <a:rPr dirty="0" sz="175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of</a:t>
            </a:r>
            <a:r>
              <a:rPr dirty="0" sz="175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recommendation</a:t>
            </a:r>
            <a:r>
              <a:rPr dirty="0" sz="175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systems.</a:t>
            </a:r>
            <a:endParaRPr sz="1750">
              <a:latin typeface="Calibri"/>
              <a:cs typeface="Calibri"/>
            </a:endParaRPr>
          </a:p>
          <a:p>
            <a:pPr marL="355600" marR="617855" indent="-342900">
              <a:lnSpc>
                <a:spcPct val="138300"/>
              </a:lnSpc>
              <a:spcBef>
                <a:spcPts val="600"/>
              </a:spcBef>
              <a:buChar char="•"/>
              <a:tabLst>
                <a:tab pos="355600" algn="l"/>
              </a:tabLst>
            </a:pP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Scale:</a:t>
            </a:r>
            <a:r>
              <a:rPr dirty="0" sz="175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Over</a:t>
            </a:r>
            <a:r>
              <a:rPr dirty="0" sz="175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8,000+</a:t>
            </a:r>
            <a:r>
              <a:rPr dirty="0" sz="175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titles,</a:t>
            </a:r>
            <a:r>
              <a:rPr dirty="0" sz="175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spanning</a:t>
            </a:r>
            <a:r>
              <a:rPr dirty="0" sz="175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various</a:t>
            </a:r>
            <a:r>
              <a:rPr dirty="0" sz="175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countries</a:t>
            </a:r>
            <a:r>
              <a:rPr dirty="0" sz="175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and</a:t>
            </a:r>
            <a:r>
              <a:rPr dirty="0" sz="175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genres,</a:t>
            </a:r>
            <a:r>
              <a:rPr dirty="0" sz="175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providing</a:t>
            </a:r>
            <a:r>
              <a:rPr dirty="0" sz="175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50">
                <a:solidFill>
                  <a:srgbClr val="3B3939"/>
                </a:solidFill>
                <a:latin typeface="Calibri"/>
                <a:cs typeface="Calibri"/>
              </a:rPr>
              <a:t>a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comprehensive</a:t>
            </a:r>
            <a:r>
              <a:rPr dirty="0" sz="175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view</a:t>
            </a:r>
            <a:r>
              <a:rPr dirty="0" sz="175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of</a:t>
            </a:r>
            <a:r>
              <a:rPr dirty="0" sz="175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Netflix's</a:t>
            </a:r>
            <a:r>
              <a:rPr dirty="0" sz="175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content</a:t>
            </a:r>
            <a:r>
              <a:rPr dirty="0" sz="175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library.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72159" y="4662220"/>
            <a:ext cx="6650355" cy="1989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" marR="5080" indent="-6350">
              <a:lnSpc>
                <a:spcPct val="107500"/>
              </a:lnSpc>
              <a:spcBef>
                <a:spcPts val="95"/>
              </a:spcBef>
            </a:pPr>
            <a:r>
              <a:rPr dirty="0" sz="4450" spc="-50">
                <a:solidFill>
                  <a:srgbClr val="1B1B27"/>
                </a:solidFill>
                <a:latin typeface="Calibri"/>
                <a:cs typeface="Calibri"/>
              </a:rPr>
              <a:t>CRISP-</a:t>
            </a:r>
            <a:r>
              <a:rPr dirty="0" sz="4450">
                <a:solidFill>
                  <a:srgbClr val="1B1B27"/>
                </a:solidFill>
                <a:latin typeface="Calibri"/>
                <a:cs typeface="Calibri"/>
              </a:rPr>
              <a:t>DM</a:t>
            </a:r>
            <a:r>
              <a:rPr dirty="0" sz="4450" spc="-95">
                <a:solidFill>
                  <a:srgbClr val="1B1B27"/>
                </a:solidFill>
                <a:latin typeface="Calibri"/>
                <a:cs typeface="Calibri"/>
              </a:rPr>
              <a:t> </a:t>
            </a:r>
            <a:r>
              <a:rPr dirty="0" sz="4450" spc="-25">
                <a:solidFill>
                  <a:srgbClr val="1B1B27"/>
                </a:solidFill>
                <a:latin typeface="Calibri"/>
                <a:cs typeface="Calibri"/>
              </a:rPr>
              <a:t>Workflow</a:t>
            </a:r>
            <a:r>
              <a:rPr dirty="0" sz="4450" spc="-90">
                <a:solidFill>
                  <a:srgbClr val="1B1B27"/>
                </a:solidFill>
                <a:latin typeface="Calibri"/>
                <a:cs typeface="Calibri"/>
              </a:rPr>
              <a:t> </a:t>
            </a:r>
            <a:r>
              <a:rPr dirty="0" sz="4450">
                <a:solidFill>
                  <a:srgbClr val="1B1B27"/>
                </a:solidFill>
                <a:latin typeface="Calibri"/>
                <a:cs typeface="Calibri"/>
              </a:rPr>
              <a:t>for</a:t>
            </a:r>
            <a:r>
              <a:rPr dirty="0" sz="4450" spc="-100">
                <a:solidFill>
                  <a:srgbClr val="1B1B27"/>
                </a:solidFill>
                <a:latin typeface="Calibri"/>
                <a:cs typeface="Calibri"/>
              </a:rPr>
              <a:t> </a:t>
            </a:r>
            <a:r>
              <a:rPr dirty="0" sz="4450" spc="-20">
                <a:solidFill>
                  <a:srgbClr val="1B1B27"/>
                </a:solidFill>
                <a:latin typeface="Calibri"/>
                <a:cs typeface="Calibri"/>
              </a:rPr>
              <a:t>Data </a:t>
            </a:r>
            <a:r>
              <a:rPr dirty="0" sz="4450" spc="-10">
                <a:solidFill>
                  <a:srgbClr val="1B1B27"/>
                </a:solidFill>
                <a:latin typeface="Calibri"/>
                <a:cs typeface="Calibri"/>
              </a:rPr>
              <a:t>Mining</a:t>
            </a:r>
            <a:endParaRPr sz="4450">
              <a:latin typeface="Calibri"/>
              <a:cs typeface="Calibri"/>
            </a:endParaRPr>
          </a:p>
          <a:p>
            <a:pPr marL="22860">
              <a:lnSpc>
                <a:spcPct val="100000"/>
              </a:lnSpc>
              <a:spcBef>
                <a:spcPts val="1885"/>
              </a:spcBef>
            </a:pPr>
            <a:r>
              <a:rPr dirty="0" sz="1750" spc="-25">
                <a:solidFill>
                  <a:srgbClr val="3B3939"/>
                </a:solidFill>
                <a:latin typeface="Calibri"/>
                <a:cs typeface="Calibri"/>
              </a:rPr>
              <a:t>01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428103" y="6358890"/>
            <a:ext cx="25146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solidFill>
                  <a:srgbClr val="3B3939"/>
                </a:solidFill>
                <a:latin typeface="Calibri"/>
                <a:cs typeface="Calibri"/>
              </a:rPr>
              <a:t>02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793750" y="6813677"/>
            <a:ext cx="6407785" cy="30480"/>
          </a:xfrm>
          <a:custGeom>
            <a:avLst/>
            <a:gdLst/>
            <a:ahLst/>
            <a:cxnLst/>
            <a:rect l="l" t="t" r="r" b="b"/>
            <a:pathLst>
              <a:path w="6407784" h="30479">
                <a:moveTo>
                  <a:pt x="6407658" y="0"/>
                </a:moveTo>
                <a:lnTo>
                  <a:pt x="0" y="0"/>
                </a:lnTo>
                <a:lnTo>
                  <a:pt x="0" y="30480"/>
                </a:lnTo>
                <a:lnTo>
                  <a:pt x="6407658" y="30480"/>
                </a:lnTo>
                <a:lnTo>
                  <a:pt x="6407658" y="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428230" y="6813677"/>
            <a:ext cx="6407785" cy="30480"/>
          </a:xfrm>
          <a:custGeom>
            <a:avLst/>
            <a:gdLst/>
            <a:ahLst/>
            <a:cxnLst/>
            <a:rect l="l" t="t" r="r" b="b"/>
            <a:pathLst>
              <a:path w="6407784" h="30479">
                <a:moveTo>
                  <a:pt x="6407785" y="0"/>
                </a:moveTo>
                <a:lnTo>
                  <a:pt x="0" y="0"/>
                </a:lnTo>
                <a:lnTo>
                  <a:pt x="0" y="30480"/>
                </a:lnTo>
                <a:lnTo>
                  <a:pt x="6407785" y="30480"/>
                </a:lnTo>
                <a:lnTo>
                  <a:pt x="6407785" y="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58580" y="1358391"/>
            <a:ext cx="4885055" cy="4885055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preencoded.pn</a:t>
            </a:r>
            <a:r>
              <a:rPr dirty="0" spc="75"/>
              <a:t> </a:t>
            </a:r>
            <a:r>
              <a:rPr dirty="0" spc="-50"/>
              <a:t>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400303"/>
            <a:ext cx="2734945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3B3939"/>
                </a:solidFill>
              </a:rPr>
              <a:t>Business</a:t>
            </a:r>
            <a:r>
              <a:rPr dirty="0" sz="2200" spc="-105">
                <a:solidFill>
                  <a:srgbClr val="3B3939"/>
                </a:solidFill>
              </a:rPr>
              <a:t> </a:t>
            </a:r>
            <a:r>
              <a:rPr dirty="0" sz="2200" spc="-10">
                <a:solidFill>
                  <a:srgbClr val="3B3939"/>
                </a:solidFill>
              </a:rPr>
              <a:t>Understanding</a:t>
            </a:r>
            <a:endParaRPr sz="2200"/>
          </a:p>
        </p:txBody>
      </p:sp>
      <p:sp>
        <p:nvSpPr>
          <p:cNvPr id="3" name="object 3" descr=""/>
          <p:cNvSpPr txBox="1"/>
          <p:nvPr/>
        </p:nvSpPr>
        <p:spPr>
          <a:xfrm>
            <a:off x="781304" y="901953"/>
            <a:ext cx="5274945" cy="36626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Improve</a:t>
            </a:r>
            <a:r>
              <a:rPr dirty="0" sz="1750" spc="-6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content</a:t>
            </a:r>
            <a:r>
              <a:rPr dirty="0" sz="1750" spc="-6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discovery</a:t>
            </a:r>
            <a:r>
              <a:rPr dirty="0" sz="175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on</a:t>
            </a:r>
            <a:r>
              <a:rPr dirty="0" sz="17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Netflix.</a:t>
            </a:r>
            <a:endParaRPr sz="1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20"/>
              </a:spcBef>
            </a:pP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750" spc="-25">
                <a:solidFill>
                  <a:srgbClr val="3B3939"/>
                </a:solidFill>
                <a:latin typeface="Calibri"/>
                <a:cs typeface="Calibri"/>
              </a:rPr>
              <a:t>03</a:t>
            </a:r>
            <a:endParaRPr sz="1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200">
                <a:solidFill>
                  <a:srgbClr val="3B3939"/>
                </a:solidFill>
                <a:latin typeface="Calibri"/>
                <a:cs typeface="Calibri"/>
              </a:rPr>
              <a:t>Data</a:t>
            </a:r>
            <a:r>
              <a:rPr dirty="0" sz="2200" spc="-6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3B3939"/>
                </a:solidFill>
                <a:latin typeface="Calibri"/>
                <a:cs typeface="Calibri"/>
              </a:rPr>
              <a:t>Preparation</a:t>
            </a:r>
            <a:endParaRPr sz="2200">
              <a:latin typeface="Calibri"/>
              <a:cs typeface="Calibri"/>
            </a:endParaRPr>
          </a:p>
          <a:p>
            <a:pPr marL="27305" marR="1402080" indent="-15240">
              <a:lnSpc>
                <a:spcPct val="118900"/>
              </a:lnSpc>
              <a:spcBef>
                <a:spcPts val="930"/>
              </a:spcBef>
            </a:pP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Cleaning,</a:t>
            </a:r>
            <a:r>
              <a:rPr dirty="0" sz="175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encoding,</a:t>
            </a:r>
            <a:r>
              <a:rPr dirty="0" sz="175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TF-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IDF</a:t>
            </a:r>
            <a:r>
              <a:rPr dirty="0" sz="175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transformation. </a:t>
            </a:r>
            <a:r>
              <a:rPr dirty="0" sz="1750" spc="-25">
                <a:solidFill>
                  <a:srgbClr val="3B3939"/>
                </a:solidFill>
                <a:latin typeface="Calibri"/>
                <a:cs typeface="Calibri"/>
              </a:rPr>
              <a:t>05</a:t>
            </a:r>
            <a:endParaRPr sz="1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750">
              <a:latin typeface="Calibri"/>
              <a:cs typeface="Calibri"/>
            </a:endParaRPr>
          </a:p>
          <a:p>
            <a:pPr marL="99060">
              <a:lnSpc>
                <a:spcPct val="100000"/>
              </a:lnSpc>
            </a:pPr>
            <a:r>
              <a:rPr dirty="0" sz="2200" spc="-10">
                <a:solidFill>
                  <a:srgbClr val="3B3939"/>
                </a:solidFill>
                <a:latin typeface="Calibri"/>
                <a:cs typeface="Calibri"/>
              </a:rPr>
              <a:t>Evaluation</a:t>
            </a:r>
            <a:endParaRPr sz="2200">
              <a:latin typeface="Calibri"/>
              <a:cs typeface="Calibri"/>
            </a:endParaRPr>
          </a:p>
          <a:p>
            <a:pPr marL="312420">
              <a:lnSpc>
                <a:spcPct val="100000"/>
              </a:lnSpc>
              <a:spcBef>
                <a:spcPts val="1460"/>
              </a:spcBef>
            </a:pP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Assessing</a:t>
            </a:r>
            <a:r>
              <a:rPr dirty="0" sz="175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models:</a:t>
            </a:r>
            <a:r>
              <a:rPr dirty="0" sz="175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20">
                <a:solidFill>
                  <a:srgbClr val="3B3939"/>
                </a:solidFill>
                <a:latin typeface="Calibri"/>
                <a:cs typeface="Calibri"/>
              </a:rPr>
              <a:t>Accuracy,</a:t>
            </a:r>
            <a:r>
              <a:rPr dirty="0" sz="175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F1-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score,</a:t>
            </a:r>
            <a:r>
              <a:rPr dirty="0" sz="175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20">
                <a:solidFill>
                  <a:srgbClr val="3B3939"/>
                </a:solidFill>
                <a:latin typeface="Calibri"/>
                <a:cs typeface="Calibri"/>
              </a:rPr>
              <a:t>Silhouette</a:t>
            </a:r>
            <a:r>
              <a:rPr dirty="0" sz="175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score.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17434" y="400303"/>
            <a:ext cx="3543935" cy="7943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3B3939"/>
                </a:solidFill>
                <a:latin typeface="Calibri"/>
                <a:cs typeface="Calibri"/>
              </a:rPr>
              <a:t>Data</a:t>
            </a:r>
            <a:r>
              <a:rPr dirty="0" sz="2200" spc="-6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3B3939"/>
                </a:solidFill>
                <a:latin typeface="Calibri"/>
                <a:cs typeface="Calibri"/>
              </a:rPr>
              <a:t>Understanding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Explore</a:t>
            </a:r>
            <a:r>
              <a:rPr dirty="0" sz="1750" spc="-7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dataset</a:t>
            </a:r>
            <a:r>
              <a:rPr dirty="0" sz="1750" spc="-6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structure</a:t>
            </a:r>
            <a:r>
              <a:rPr dirty="0" sz="1750" spc="-6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and</a:t>
            </a:r>
            <a:r>
              <a:rPr dirty="0" sz="1750" spc="-6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patterns.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417434" y="1683766"/>
            <a:ext cx="25146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solidFill>
                  <a:srgbClr val="3B3939"/>
                </a:solidFill>
                <a:latin typeface="Calibri"/>
                <a:cs typeface="Calibri"/>
              </a:rPr>
              <a:t>04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417434" y="2307462"/>
            <a:ext cx="4542790" cy="2257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solidFill>
                  <a:srgbClr val="3B3939"/>
                </a:solidFill>
                <a:latin typeface="Calibri"/>
                <a:cs typeface="Calibri"/>
              </a:rPr>
              <a:t>Modeling</a:t>
            </a:r>
            <a:endParaRPr sz="2200">
              <a:latin typeface="Calibri"/>
              <a:cs typeface="Calibri"/>
            </a:endParaRPr>
          </a:p>
          <a:p>
            <a:pPr marL="35560" marR="555625" indent="-22860">
              <a:lnSpc>
                <a:spcPct val="118900"/>
              </a:lnSpc>
              <a:spcBef>
                <a:spcPts val="930"/>
              </a:spcBef>
            </a:pP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Classification,</a:t>
            </a:r>
            <a:r>
              <a:rPr dirty="0" sz="1750" spc="-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clustering, recommendations. </a:t>
            </a:r>
            <a:r>
              <a:rPr dirty="0" sz="1750" spc="-25">
                <a:solidFill>
                  <a:srgbClr val="3B3939"/>
                </a:solidFill>
                <a:latin typeface="Calibri"/>
                <a:cs typeface="Calibri"/>
              </a:rPr>
              <a:t>06</a:t>
            </a:r>
            <a:endParaRPr sz="1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750">
              <a:latin typeface="Calibri"/>
              <a:cs typeface="Calibri"/>
            </a:endParaRPr>
          </a:p>
          <a:p>
            <a:pPr marL="118110">
              <a:lnSpc>
                <a:spcPct val="100000"/>
              </a:lnSpc>
            </a:pPr>
            <a:r>
              <a:rPr dirty="0" sz="2200" spc="-10">
                <a:solidFill>
                  <a:srgbClr val="3B3939"/>
                </a:solidFill>
                <a:latin typeface="Calibri"/>
                <a:cs typeface="Calibri"/>
              </a:rPr>
              <a:t>Deployment</a:t>
            </a:r>
            <a:endParaRPr sz="2200">
              <a:latin typeface="Calibri"/>
              <a:cs typeface="Calibri"/>
            </a:endParaRPr>
          </a:p>
          <a:p>
            <a:pPr marL="476250">
              <a:lnSpc>
                <a:spcPct val="100000"/>
              </a:lnSpc>
              <a:spcBef>
                <a:spcPts val="1460"/>
              </a:spcBef>
            </a:pP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Saving</a:t>
            </a:r>
            <a:r>
              <a:rPr dirty="0" sz="175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machine</a:t>
            </a:r>
            <a:r>
              <a:rPr dirty="0" sz="17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learning</a:t>
            </a:r>
            <a:r>
              <a:rPr dirty="0" sz="1750" spc="-6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models</a:t>
            </a:r>
            <a:r>
              <a:rPr dirty="0" sz="1750" spc="-6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using</a:t>
            </a:r>
            <a:r>
              <a:rPr dirty="0" sz="17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Joblib.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93750" y="2139060"/>
            <a:ext cx="6407785" cy="30480"/>
          </a:xfrm>
          <a:custGeom>
            <a:avLst/>
            <a:gdLst/>
            <a:ahLst/>
            <a:cxnLst/>
            <a:rect l="l" t="t" r="r" b="b"/>
            <a:pathLst>
              <a:path w="6407784" h="30480">
                <a:moveTo>
                  <a:pt x="6407658" y="0"/>
                </a:moveTo>
                <a:lnTo>
                  <a:pt x="0" y="0"/>
                </a:lnTo>
                <a:lnTo>
                  <a:pt x="0" y="30479"/>
                </a:lnTo>
                <a:lnTo>
                  <a:pt x="6407658" y="30479"/>
                </a:lnTo>
                <a:lnTo>
                  <a:pt x="6407658" y="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428230" y="2139060"/>
            <a:ext cx="6407785" cy="30480"/>
          </a:xfrm>
          <a:custGeom>
            <a:avLst/>
            <a:gdLst/>
            <a:ahLst/>
            <a:cxnLst/>
            <a:rect l="l" t="t" r="r" b="b"/>
            <a:pathLst>
              <a:path w="6407784" h="30480">
                <a:moveTo>
                  <a:pt x="6407785" y="0"/>
                </a:moveTo>
                <a:lnTo>
                  <a:pt x="0" y="0"/>
                </a:lnTo>
                <a:lnTo>
                  <a:pt x="0" y="30479"/>
                </a:lnTo>
                <a:lnTo>
                  <a:pt x="6407785" y="30479"/>
                </a:lnTo>
                <a:lnTo>
                  <a:pt x="6407785" y="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793750" y="3582923"/>
            <a:ext cx="6407785" cy="30480"/>
          </a:xfrm>
          <a:custGeom>
            <a:avLst/>
            <a:gdLst/>
            <a:ahLst/>
            <a:cxnLst/>
            <a:rect l="l" t="t" r="r" b="b"/>
            <a:pathLst>
              <a:path w="6407784" h="30479">
                <a:moveTo>
                  <a:pt x="6407658" y="0"/>
                </a:moveTo>
                <a:lnTo>
                  <a:pt x="0" y="0"/>
                </a:lnTo>
                <a:lnTo>
                  <a:pt x="0" y="30479"/>
                </a:lnTo>
                <a:lnTo>
                  <a:pt x="6407658" y="30479"/>
                </a:lnTo>
                <a:lnTo>
                  <a:pt x="6407658" y="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7428230" y="3582923"/>
            <a:ext cx="6407785" cy="30480"/>
          </a:xfrm>
          <a:custGeom>
            <a:avLst/>
            <a:gdLst/>
            <a:ahLst/>
            <a:cxnLst/>
            <a:rect l="l" t="t" r="r" b="b"/>
            <a:pathLst>
              <a:path w="6407784" h="30479">
                <a:moveTo>
                  <a:pt x="6407785" y="0"/>
                </a:moveTo>
                <a:lnTo>
                  <a:pt x="0" y="0"/>
                </a:lnTo>
                <a:lnTo>
                  <a:pt x="0" y="30479"/>
                </a:lnTo>
                <a:lnTo>
                  <a:pt x="6407785" y="30479"/>
                </a:lnTo>
                <a:lnTo>
                  <a:pt x="6407785" y="0"/>
                </a:lnTo>
                <a:close/>
              </a:path>
            </a:pathLst>
          </a:custGeom>
          <a:solidFill>
            <a:srgbClr val="1B1B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preencoded.pn</a:t>
            </a:r>
            <a:r>
              <a:rPr dirty="0" spc="75"/>
              <a:t> </a:t>
            </a:r>
            <a:r>
              <a:rPr dirty="0" spc="-50"/>
              <a:t>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3559" y="394462"/>
            <a:ext cx="6362065" cy="4978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100" spc="-10"/>
              <a:t>Exploratory</a:t>
            </a:r>
            <a:r>
              <a:rPr dirty="0" sz="3100" spc="-100"/>
              <a:t> </a:t>
            </a:r>
            <a:r>
              <a:rPr dirty="0" sz="3100"/>
              <a:t>Data</a:t>
            </a:r>
            <a:r>
              <a:rPr dirty="0" sz="3100" spc="-95"/>
              <a:t> </a:t>
            </a:r>
            <a:r>
              <a:rPr dirty="0" sz="3100"/>
              <a:t>Analysis</a:t>
            </a:r>
            <a:r>
              <a:rPr dirty="0" sz="3100" spc="-100"/>
              <a:t> </a:t>
            </a:r>
            <a:r>
              <a:rPr dirty="0" sz="3100"/>
              <a:t>(EDA)</a:t>
            </a:r>
            <a:r>
              <a:rPr dirty="0" sz="3100" spc="-114"/>
              <a:t> </a:t>
            </a:r>
            <a:r>
              <a:rPr dirty="0" sz="3100" spc="-10"/>
              <a:t>Insights</a:t>
            </a:r>
            <a:endParaRPr sz="3100"/>
          </a:p>
        </p:txBody>
      </p:sp>
      <p:sp>
        <p:nvSpPr>
          <p:cNvPr id="3" name="object 3" descr=""/>
          <p:cNvSpPr txBox="1"/>
          <p:nvPr/>
        </p:nvSpPr>
        <p:spPr>
          <a:xfrm>
            <a:off x="513080" y="1037590"/>
            <a:ext cx="287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Key</a:t>
            </a:r>
            <a:r>
              <a:rPr dirty="0" sz="12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B3939"/>
                </a:solidFill>
                <a:latin typeface="Calibri"/>
                <a:cs typeface="Calibri"/>
              </a:rPr>
              <a:t>observations</a:t>
            </a:r>
            <a:r>
              <a:rPr dirty="0" sz="120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from</a:t>
            </a:r>
            <a:r>
              <a:rPr dirty="0" sz="12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initial</a:t>
            </a:r>
            <a:r>
              <a:rPr dirty="0" sz="1200" spc="-2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data</a:t>
            </a:r>
            <a:r>
              <a:rPr dirty="0" sz="120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B3939"/>
                </a:solidFill>
                <a:latin typeface="Calibri"/>
                <a:cs typeface="Calibri"/>
              </a:rPr>
              <a:t>exploration: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02995" y="4743069"/>
            <a:ext cx="6125210" cy="552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450">
                <a:solidFill>
                  <a:srgbClr val="1B1B27"/>
                </a:solidFill>
                <a:latin typeface="Calibri"/>
                <a:cs typeface="Calibri"/>
              </a:rPr>
              <a:t>Data</a:t>
            </a:r>
            <a:r>
              <a:rPr dirty="0" sz="3450" spc="-55">
                <a:solidFill>
                  <a:srgbClr val="1B1B27"/>
                </a:solidFill>
                <a:latin typeface="Calibri"/>
                <a:cs typeface="Calibri"/>
              </a:rPr>
              <a:t> </a:t>
            </a:r>
            <a:r>
              <a:rPr dirty="0" sz="3450">
                <a:solidFill>
                  <a:srgbClr val="1B1B27"/>
                </a:solidFill>
                <a:latin typeface="Calibri"/>
                <a:cs typeface="Calibri"/>
              </a:rPr>
              <a:t>Cleaning</a:t>
            </a:r>
            <a:r>
              <a:rPr dirty="0" sz="3450" spc="-50">
                <a:solidFill>
                  <a:srgbClr val="1B1B27"/>
                </a:solidFill>
                <a:latin typeface="Calibri"/>
                <a:cs typeface="Calibri"/>
              </a:rPr>
              <a:t> </a:t>
            </a:r>
            <a:r>
              <a:rPr dirty="0" sz="3450">
                <a:solidFill>
                  <a:srgbClr val="1B1B27"/>
                </a:solidFill>
                <a:latin typeface="Calibri"/>
                <a:cs typeface="Calibri"/>
              </a:rPr>
              <a:t>&amp;</a:t>
            </a:r>
            <a:r>
              <a:rPr dirty="0" sz="3450" spc="-75">
                <a:solidFill>
                  <a:srgbClr val="1B1B27"/>
                </a:solidFill>
                <a:latin typeface="Calibri"/>
                <a:cs typeface="Calibri"/>
              </a:rPr>
              <a:t> </a:t>
            </a:r>
            <a:r>
              <a:rPr dirty="0" sz="3450" spc="-10">
                <a:solidFill>
                  <a:srgbClr val="1B1B27"/>
                </a:solidFill>
                <a:latin typeface="Calibri"/>
                <a:cs typeface="Calibri"/>
              </a:rPr>
              <a:t>Preparation</a:t>
            </a:r>
            <a:r>
              <a:rPr dirty="0" sz="3450" spc="-55">
                <a:solidFill>
                  <a:srgbClr val="1B1B27"/>
                </a:solidFill>
                <a:latin typeface="Calibri"/>
                <a:cs typeface="Calibri"/>
              </a:rPr>
              <a:t> </a:t>
            </a:r>
            <a:r>
              <a:rPr dirty="0" sz="3450" spc="-10">
                <a:solidFill>
                  <a:srgbClr val="1B1B27"/>
                </a:solidFill>
                <a:latin typeface="Calibri"/>
                <a:cs typeface="Calibri"/>
              </a:rPr>
              <a:t>Steps</a:t>
            </a:r>
            <a:endParaRPr sz="345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815" y="1435861"/>
            <a:ext cx="6573519" cy="100075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815" y="2601214"/>
            <a:ext cx="6573519" cy="10001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1815" y="3766058"/>
            <a:ext cx="6573519" cy="100076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42541" y="1208367"/>
            <a:ext cx="6935306" cy="4874400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preencoded.pn</a:t>
            </a:r>
            <a:r>
              <a:rPr dirty="0" spc="75"/>
              <a:t> </a:t>
            </a:r>
            <a:r>
              <a:rPr dirty="0" spc="-50"/>
              <a:t>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2995" y="403352"/>
            <a:ext cx="5218430" cy="61804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>
                <a:solidFill>
                  <a:srgbClr val="3B3939"/>
                </a:solidFill>
                <a:latin typeface="Calibri"/>
                <a:cs typeface="Calibri"/>
              </a:rPr>
              <a:t>Rigorous</a:t>
            </a:r>
            <a:r>
              <a:rPr dirty="0" sz="135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3B3939"/>
                </a:solidFill>
                <a:latin typeface="Calibri"/>
                <a:cs typeface="Calibri"/>
              </a:rPr>
              <a:t>preparation</a:t>
            </a:r>
            <a:r>
              <a:rPr dirty="0" sz="135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3B3939"/>
                </a:solidFill>
                <a:latin typeface="Calibri"/>
                <a:cs typeface="Calibri"/>
              </a:rPr>
              <a:t>ensures</a:t>
            </a:r>
            <a:r>
              <a:rPr dirty="0" sz="135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data</a:t>
            </a:r>
            <a:r>
              <a:rPr dirty="0" sz="1350" spc="-2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quality</a:t>
            </a:r>
            <a:r>
              <a:rPr dirty="0" sz="1350" spc="-2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for</a:t>
            </a:r>
            <a:r>
              <a:rPr dirty="0" sz="1350" spc="-2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3B3939"/>
                </a:solidFill>
                <a:latin typeface="Calibri"/>
                <a:cs typeface="Calibri"/>
              </a:rPr>
              <a:t>modeling: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350">
              <a:latin typeface="Calibri"/>
              <a:cs typeface="Calibri"/>
            </a:endParaRPr>
          </a:p>
          <a:p>
            <a:pPr marL="828040">
              <a:lnSpc>
                <a:spcPct val="100000"/>
              </a:lnSpc>
            </a:pPr>
            <a:r>
              <a:rPr dirty="0" sz="1700">
                <a:solidFill>
                  <a:srgbClr val="3B3939"/>
                </a:solidFill>
                <a:latin typeface="Calibri"/>
                <a:cs typeface="Calibri"/>
              </a:rPr>
              <a:t>Handle</a:t>
            </a:r>
            <a:r>
              <a:rPr dirty="0" sz="170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3B3939"/>
                </a:solidFill>
                <a:latin typeface="Calibri"/>
                <a:cs typeface="Calibri"/>
              </a:rPr>
              <a:t>Missing</a:t>
            </a:r>
            <a:r>
              <a:rPr dirty="0" sz="170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3B3939"/>
                </a:solidFill>
                <a:latin typeface="Calibri"/>
                <a:cs typeface="Calibri"/>
              </a:rPr>
              <a:t>Values</a:t>
            </a:r>
            <a:endParaRPr sz="1700">
              <a:latin typeface="Calibri"/>
              <a:cs typeface="Calibri"/>
            </a:endParaRPr>
          </a:p>
          <a:p>
            <a:pPr marL="828040">
              <a:lnSpc>
                <a:spcPct val="100000"/>
              </a:lnSpc>
              <a:spcBef>
                <a:spcPts val="960"/>
              </a:spcBef>
            </a:pPr>
            <a:r>
              <a:rPr dirty="0" sz="1350" spc="-10">
                <a:solidFill>
                  <a:srgbClr val="3B3939"/>
                </a:solidFill>
                <a:latin typeface="Calibri"/>
                <a:cs typeface="Calibri"/>
              </a:rPr>
              <a:t>Strategically</a:t>
            </a:r>
            <a:r>
              <a:rPr dirty="0" sz="135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filled</a:t>
            </a:r>
            <a:r>
              <a:rPr dirty="0" sz="135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null</a:t>
            </a:r>
            <a:r>
              <a:rPr dirty="0" sz="135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entries</a:t>
            </a:r>
            <a:r>
              <a:rPr dirty="0" sz="135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for</a:t>
            </a:r>
            <a:r>
              <a:rPr dirty="0" sz="135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3B3939"/>
                </a:solidFill>
                <a:latin typeface="Calibri"/>
                <a:cs typeface="Calibri"/>
              </a:rPr>
              <a:t>completeness.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350">
              <a:latin typeface="Calibri"/>
              <a:cs typeface="Calibri"/>
            </a:endParaRPr>
          </a:p>
          <a:p>
            <a:pPr marL="828040">
              <a:lnSpc>
                <a:spcPct val="100000"/>
              </a:lnSpc>
            </a:pPr>
            <a:r>
              <a:rPr dirty="0" sz="1700" spc="-10">
                <a:solidFill>
                  <a:srgbClr val="3B3939"/>
                </a:solidFill>
                <a:latin typeface="Calibri"/>
                <a:cs typeface="Calibri"/>
              </a:rPr>
              <a:t>Standardize</a:t>
            </a:r>
            <a:r>
              <a:rPr dirty="0" sz="1700" spc="-1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3B3939"/>
                </a:solidFill>
                <a:latin typeface="Calibri"/>
                <a:cs typeface="Calibri"/>
              </a:rPr>
              <a:t>Durations</a:t>
            </a:r>
            <a:endParaRPr sz="1700">
              <a:latin typeface="Calibri"/>
              <a:cs typeface="Calibri"/>
            </a:endParaRPr>
          </a:p>
          <a:p>
            <a:pPr marL="828040">
              <a:lnSpc>
                <a:spcPct val="100000"/>
              </a:lnSpc>
              <a:spcBef>
                <a:spcPts val="965"/>
              </a:spcBef>
            </a:pPr>
            <a:r>
              <a:rPr dirty="0" sz="1350" spc="-10">
                <a:solidFill>
                  <a:srgbClr val="3B3939"/>
                </a:solidFill>
                <a:latin typeface="Calibri"/>
                <a:cs typeface="Calibri"/>
              </a:rPr>
              <a:t>Converted</a:t>
            </a:r>
            <a:r>
              <a:rPr dirty="0" sz="13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"120</a:t>
            </a:r>
            <a:r>
              <a:rPr dirty="0" sz="135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min"</a:t>
            </a:r>
            <a:r>
              <a:rPr dirty="0" sz="13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to</a:t>
            </a:r>
            <a:r>
              <a:rPr dirty="0" sz="135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numeric</a:t>
            </a:r>
            <a:r>
              <a:rPr dirty="0" sz="135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minutes</a:t>
            </a:r>
            <a:r>
              <a:rPr dirty="0" sz="135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for</a:t>
            </a:r>
            <a:r>
              <a:rPr dirty="0" sz="13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3B3939"/>
                </a:solidFill>
                <a:latin typeface="Calibri"/>
                <a:cs typeface="Calibri"/>
              </a:rPr>
              <a:t>consistency.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350">
              <a:latin typeface="Calibri"/>
              <a:cs typeface="Calibri"/>
            </a:endParaRPr>
          </a:p>
          <a:p>
            <a:pPr marL="828040">
              <a:lnSpc>
                <a:spcPct val="100000"/>
              </a:lnSpc>
            </a:pPr>
            <a:r>
              <a:rPr dirty="0" sz="1700">
                <a:solidFill>
                  <a:srgbClr val="3B3939"/>
                </a:solidFill>
                <a:latin typeface="Calibri"/>
                <a:cs typeface="Calibri"/>
              </a:rPr>
              <a:t>Encode</a:t>
            </a:r>
            <a:r>
              <a:rPr dirty="0" sz="170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3B3939"/>
                </a:solidFill>
                <a:latin typeface="Calibri"/>
                <a:cs typeface="Calibri"/>
              </a:rPr>
              <a:t>Categorical</a:t>
            </a:r>
            <a:r>
              <a:rPr dirty="0" sz="170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3B3939"/>
                </a:solidFill>
                <a:latin typeface="Calibri"/>
                <a:cs typeface="Calibri"/>
              </a:rPr>
              <a:t>Data</a:t>
            </a:r>
            <a:endParaRPr sz="1700">
              <a:latin typeface="Calibri"/>
              <a:cs typeface="Calibri"/>
            </a:endParaRPr>
          </a:p>
          <a:p>
            <a:pPr marL="828040">
              <a:lnSpc>
                <a:spcPct val="100000"/>
              </a:lnSpc>
              <a:spcBef>
                <a:spcPts val="960"/>
              </a:spcBef>
            </a:pPr>
            <a:r>
              <a:rPr dirty="0" sz="1350" spc="-10">
                <a:solidFill>
                  <a:srgbClr val="3B3939"/>
                </a:solidFill>
                <a:latin typeface="Calibri"/>
                <a:cs typeface="Calibri"/>
              </a:rPr>
              <a:t>OneHotEncoder</a:t>
            </a:r>
            <a:r>
              <a:rPr dirty="0" sz="135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for</a:t>
            </a:r>
            <a:r>
              <a:rPr dirty="0" sz="135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3B3939"/>
                </a:solidFill>
                <a:latin typeface="Calibri"/>
                <a:cs typeface="Calibri"/>
              </a:rPr>
              <a:t>features,</a:t>
            </a:r>
            <a:r>
              <a:rPr dirty="0" sz="135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3B3939"/>
                </a:solidFill>
                <a:latin typeface="Calibri"/>
                <a:cs typeface="Calibri"/>
              </a:rPr>
              <a:t>LabelEncoder</a:t>
            </a:r>
            <a:r>
              <a:rPr dirty="0" sz="135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for</a:t>
            </a:r>
            <a:r>
              <a:rPr dirty="0" sz="135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3B3939"/>
                </a:solidFill>
                <a:latin typeface="Calibri"/>
                <a:cs typeface="Calibri"/>
              </a:rPr>
              <a:t>target</a:t>
            </a:r>
            <a:r>
              <a:rPr dirty="0" sz="135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3B3939"/>
                </a:solidFill>
                <a:latin typeface="Calibri"/>
                <a:cs typeface="Calibri"/>
              </a:rPr>
              <a:t>variables.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350">
              <a:latin typeface="Calibri"/>
              <a:cs typeface="Calibri"/>
            </a:endParaRPr>
          </a:p>
          <a:p>
            <a:pPr marL="828040">
              <a:lnSpc>
                <a:spcPct val="100000"/>
              </a:lnSpc>
            </a:pPr>
            <a:r>
              <a:rPr dirty="0" sz="1700" spc="-40">
                <a:solidFill>
                  <a:srgbClr val="3B3939"/>
                </a:solidFill>
                <a:latin typeface="Calibri"/>
                <a:cs typeface="Calibri"/>
              </a:rPr>
              <a:t>Text</a:t>
            </a:r>
            <a:r>
              <a:rPr dirty="0" sz="170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3B3939"/>
                </a:solidFill>
                <a:latin typeface="Calibri"/>
                <a:cs typeface="Calibri"/>
              </a:rPr>
              <a:t>Feature</a:t>
            </a:r>
            <a:r>
              <a:rPr dirty="0" sz="170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3B3939"/>
                </a:solidFill>
                <a:latin typeface="Calibri"/>
                <a:cs typeface="Calibri"/>
              </a:rPr>
              <a:t>Extraction</a:t>
            </a:r>
            <a:endParaRPr sz="1700">
              <a:latin typeface="Calibri"/>
              <a:cs typeface="Calibri"/>
            </a:endParaRPr>
          </a:p>
          <a:p>
            <a:pPr marL="828040">
              <a:lnSpc>
                <a:spcPct val="100000"/>
              </a:lnSpc>
              <a:spcBef>
                <a:spcPts val="960"/>
              </a:spcBef>
            </a:pPr>
            <a:r>
              <a:rPr dirty="0" sz="1350" spc="-10">
                <a:solidFill>
                  <a:srgbClr val="3B3939"/>
                </a:solidFill>
                <a:latin typeface="Calibri"/>
                <a:cs typeface="Calibri"/>
              </a:rPr>
              <a:t>TF-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IDF</a:t>
            </a:r>
            <a:r>
              <a:rPr dirty="0" sz="135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3B3939"/>
                </a:solidFill>
                <a:latin typeface="Calibri"/>
                <a:cs typeface="Calibri"/>
              </a:rPr>
              <a:t>applied</a:t>
            </a:r>
            <a:r>
              <a:rPr dirty="0" sz="135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to</a:t>
            </a:r>
            <a:r>
              <a:rPr dirty="0" sz="135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3B3939"/>
                </a:solidFill>
                <a:latin typeface="Calibri"/>
                <a:cs typeface="Calibri"/>
              </a:rPr>
              <a:t>descriptions</a:t>
            </a:r>
            <a:r>
              <a:rPr dirty="0" sz="135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for</a:t>
            </a:r>
            <a:r>
              <a:rPr dirty="0" sz="135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semantic</a:t>
            </a:r>
            <a:r>
              <a:rPr dirty="0" sz="135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3B3939"/>
                </a:solidFill>
                <a:latin typeface="Calibri"/>
                <a:cs typeface="Calibri"/>
              </a:rPr>
              <a:t>representation.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350">
              <a:latin typeface="Calibri"/>
              <a:cs typeface="Calibri"/>
            </a:endParaRPr>
          </a:p>
          <a:p>
            <a:pPr marL="828040">
              <a:lnSpc>
                <a:spcPct val="100000"/>
              </a:lnSpc>
            </a:pPr>
            <a:r>
              <a:rPr dirty="0" sz="1700">
                <a:solidFill>
                  <a:srgbClr val="3B3939"/>
                </a:solidFill>
                <a:latin typeface="Calibri"/>
                <a:cs typeface="Calibri"/>
              </a:rPr>
              <a:t>Split</a:t>
            </a:r>
            <a:r>
              <a:rPr dirty="0" sz="1700" spc="-1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3B3939"/>
                </a:solidFill>
                <a:latin typeface="Calibri"/>
                <a:cs typeface="Calibri"/>
              </a:rPr>
              <a:t>Dataset</a:t>
            </a:r>
            <a:endParaRPr sz="1700">
              <a:latin typeface="Calibri"/>
              <a:cs typeface="Calibri"/>
            </a:endParaRPr>
          </a:p>
          <a:p>
            <a:pPr marL="828040">
              <a:lnSpc>
                <a:spcPct val="100000"/>
              </a:lnSpc>
              <a:spcBef>
                <a:spcPts val="950"/>
              </a:spcBef>
            </a:pP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Divided</a:t>
            </a:r>
            <a:r>
              <a:rPr dirty="0" sz="135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into</a:t>
            </a:r>
            <a:r>
              <a:rPr dirty="0" sz="135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3B3939"/>
                </a:solidFill>
                <a:latin typeface="Calibri"/>
                <a:cs typeface="Calibri"/>
              </a:rPr>
              <a:t>training</a:t>
            </a:r>
            <a:r>
              <a:rPr dirty="0" sz="135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and</a:t>
            </a:r>
            <a:r>
              <a:rPr dirty="0" sz="135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3B3939"/>
                </a:solidFill>
                <a:latin typeface="Calibri"/>
                <a:cs typeface="Calibri"/>
              </a:rPr>
              <a:t>testing</a:t>
            </a:r>
            <a:r>
              <a:rPr dirty="0" sz="135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sets</a:t>
            </a:r>
            <a:r>
              <a:rPr dirty="0" sz="135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for</a:t>
            </a:r>
            <a:r>
              <a:rPr dirty="0" sz="135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B3939"/>
                </a:solidFill>
                <a:latin typeface="Calibri"/>
                <a:cs typeface="Calibri"/>
              </a:rPr>
              <a:t>model</a:t>
            </a:r>
            <a:r>
              <a:rPr dirty="0" sz="135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3B3939"/>
                </a:solidFill>
                <a:latin typeface="Calibri"/>
                <a:cs typeface="Calibri"/>
              </a:rPr>
              <a:t>validation.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79411" y="521550"/>
            <a:ext cx="7521535" cy="6287782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610234" y="817880"/>
            <a:ext cx="709930" cy="1061720"/>
            <a:chOff x="610234" y="817880"/>
            <a:chExt cx="709930" cy="1061720"/>
          </a:xfrm>
        </p:grpSpPr>
        <p:sp>
          <p:nvSpPr>
            <p:cNvPr id="5" name="object 5" descr=""/>
            <p:cNvSpPr/>
            <p:nvPr/>
          </p:nvSpPr>
          <p:spPr>
            <a:xfrm>
              <a:off x="614044" y="821690"/>
              <a:ext cx="702310" cy="1054100"/>
            </a:xfrm>
            <a:custGeom>
              <a:avLst/>
              <a:gdLst/>
              <a:ahLst/>
              <a:cxnLst/>
              <a:rect l="l" t="t" r="r" b="b"/>
              <a:pathLst>
                <a:path w="702310" h="1054100">
                  <a:moveTo>
                    <a:pt x="351129" y="0"/>
                  </a:moveTo>
                  <a:lnTo>
                    <a:pt x="303484" y="3205"/>
                  </a:lnTo>
                  <a:lnTo>
                    <a:pt x="257787" y="12544"/>
                  </a:lnTo>
                  <a:lnTo>
                    <a:pt x="214457" y="27596"/>
                  </a:lnTo>
                  <a:lnTo>
                    <a:pt x="173910" y="47944"/>
                  </a:lnTo>
                  <a:lnTo>
                    <a:pt x="136567" y="73170"/>
                  </a:lnTo>
                  <a:lnTo>
                    <a:pt x="102846" y="102854"/>
                  </a:lnTo>
                  <a:lnTo>
                    <a:pt x="73164" y="136578"/>
                  </a:lnTo>
                  <a:lnTo>
                    <a:pt x="47941" y="173924"/>
                  </a:lnTo>
                  <a:lnTo>
                    <a:pt x="27594" y="214473"/>
                  </a:lnTo>
                  <a:lnTo>
                    <a:pt x="12543" y="257807"/>
                  </a:lnTo>
                  <a:lnTo>
                    <a:pt x="3205" y="303507"/>
                  </a:lnTo>
                  <a:lnTo>
                    <a:pt x="0" y="351154"/>
                  </a:lnTo>
                  <a:lnTo>
                    <a:pt x="0" y="702436"/>
                  </a:lnTo>
                  <a:lnTo>
                    <a:pt x="3205" y="750084"/>
                  </a:lnTo>
                  <a:lnTo>
                    <a:pt x="12543" y="795784"/>
                  </a:lnTo>
                  <a:lnTo>
                    <a:pt x="27594" y="839118"/>
                  </a:lnTo>
                  <a:lnTo>
                    <a:pt x="47941" y="879667"/>
                  </a:lnTo>
                  <a:lnTo>
                    <a:pt x="73164" y="917013"/>
                  </a:lnTo>
                  <a:lnTo>
                    <a:pt x="102846" y="950737"/>
                  </a:lnTo>
                  <a:lnTo>
                    <a:pt x="136567" y="980421"/>
                  </a:lnTo>
                  <a:lnTo>
                    <a:pt x="173910" y="1005647"/>
                  </a:lnTo>
                  <a:lnTo>
                    <a:pt x="214457" y="1025995"/>
                  </a:lnTo>
                  <a:lnTo>
                    <a:pt x="257787" y="1041047"/>
                  </a:lnTo>
                  <a:lnTo>
                    <a:pt x="303484" y="1050386"/>
                  </a:lnTo>
                  <a:lnTo>
                    <a:pt x="351129" y="1053591"/>
                  </a:lnTo>
                  <a:lnTo>
                    <a:pt x="398777" y="1050386"/>
                  </a:lnTo>
                  <a:lnTo>
                    <a:pt x="444479" y="1041047"/>
                  </a:lnTo>
                  <a:lnTo>
                    <a:pt x="487815" y="1025995"/>
                  </a:lnTo>
                  <a:lnTo>
                    <a:pt x="528367" y="1005647"/>
                  </a:lnTo>
                  <a:lnTo>
                    <a:pt x="565715" y="980421"/>
                  </a:lnTo>
                  <a:lnTo>
                    <a:pt x="599443" y="950737"/>
                  </a:lnTo>
                  <a:lnTo>
                    <a:pt x="629130" y="917013"/>
                  </a:lnTo>
                  <a:lnTo>
                    <a:pt x="654358" y="879667"/>
                  </a:lnTo>
                  <a:lnTo>
                    <a:pt x="674709" y="839118"/>
                  </a:lnTo>
                  <a:lnTo>
                    <a:pt x="689763" y="795784"/>
                  </a:lnTo>
                  <a:lnTo>
                    <a:pt x="699103" y="750084"/>
                  </a:lnTo>
                  <a:lnTo>
                    <a:pt x="702310" y="702436"/>
                  </a:lnTo>
                  <a:lnTo>
                    <a:pt x="702310" y="351154"/>
                  </a:lnTo>
                  <a:lnTo>
                    <a:pt x="699103" y="303507"/>
                  </a:lnTo>
                  <a:lnTo>
                    <a:pt x="689763" y="257807"/>
                  </a:lnTo>
                  <a:lnTo>
                    <a:pt x="674709" y="214473"/>
                  </a:lnTo>
                  <a:lnTo>
                    <a:pt x="654358" y="173924"/>
                  </a:lnTo>
                  <a:lnTo>
                    <a:pt x="629130" y="136578"/>
                  </a:lnTo>
                  <a:lnTo>
                    <a:pt x="599443" y="102854"/>
                  </a:lnTo>
                  <a:lnTo>
                    <a:pt x="565715" y="73170"/>
                  </a:lnTo>
                  <a:lnTo>
                    <a:pt x="528367" y="47944"/>
                  </a:lnTo>
                  <a:lnTo>
                    <a:pt x="487815" y="27596"/>
                  </a:lnTo>
                  <a:lnTo>
                    <a:pt x="444479" y="12544"/>
                  </a:lnTo>
                  <a:lnTo>
                    <a:pt x="398777" y="3205"/>
                  </a:lnTo>
                  <a:lnTo>
                    <a:pt x="351129" y="0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14044" y="821690"/>
              <a:ext cx="702310" cy="1054100"/>
            </a:xfrm>
            <a:custGeom>
              <a:avLst/>
              <a:gdLst/>
              <a:ahLst/>
              <a:cxnLst/>
              <a:rect l="l" t="t" r="r" b="b"/>
              <a:pathLst>
                <a:path w="702310" h="1054100">
                  <a:moveTo>
                    <a:pt x="0" y="351154"/>
                  </a:moveTo>
                  <a:lnTo>
                    <a:pt x="3205" y="303507"/>
                  </a:lnTo>
                  <a:lnTo>
                    <a:pt x="12543" y="257807"/>
                  </a:lnTo>
                  <a:lnTo>
                    <a:pt x="27594" y="214473"/>
                  </a:lnTo>
                  <a:lnTo>
                    <a:pt x="47941" y="173924"/>
                  </a:lnTo>
                  <a:lnTo>
                    <a:pt x="73164" y="136578"/>
                  </a:lnTo>
                  <a:lnTo>
                    <a:pt x="102846" y="102854"/>
                  </a:lnTo>
                  <a:lnTo>
                    <a:pt x="136567" y="73170"/>
                  </a:lnTo>
                  <a:lnTo>
                    <a:pt x="173910" y="47944"/>
                  </a:lnTo>
                  <a:lnTo>
                    <a:pt x="214457" y="27596"/>
                  </a:lnTo>
                  <a:lnTo>
                    <a:pt x="257787" y="12544"/>
                  </a:lnTo>
                  <a:lnTo>
                    <a:pt x="303484" y="3205"/>
                  </a:lnTo>
                  <a:lnTo>
                    <a:pt x="351129" y="0"/>
                  </a:lnTo>
                  <a:lnTo>
                    <a:pt x="398777" y="3205"/>
                  </a:lnTo>
                  <a:lnTo>
                    <a:pt x="444479" y="12544"/>
                  </a:lnTo>
                  <a:lnTo>
                    <a:pt x="487815" y="27596"/>
                  </a:lnTo>
                  <a:lnTo>
                    <a:pt x="528367" y="47944"/>
                  </a:lnTo>
                  <a:lnTo>
                    <a:pt x="565715" y="73170"/>
                  </a:lnTo>
                  <a:lnTo>
                    <a:pt x="599443" y="102854"/>
                  </a:lnTo>
                  <a:lnTo>
                    <a:pt x="629130" y="136578"/>
                  </a:lnTo>
                  <a:lnTo>
                    <a:pt x="654358" y="173924"/>
                  </a:lnTo>
                  <a:lnTo>
                    <a:pt x="674709" y="214473"/>
                  </a:lnTo>
                  <a:lnTo>
                    <a:pt x="689763" y="257807"/>
                  </a:lnTo>
                  <a:lnTo>
                    <a:pt x="699103" y="303507"/>
                  </a:lnTo>
                  <a:lnTo>
                    <a:pt x="702310" y="351154"/>
                  </a:lnTo>
                  <a:lnTo>
                    <a:pt x="702310" y="702436"/>
                  </a:lnTo>
                  <a:lnTo>
                    <a:pt x="699103" y="750084"/>
                  </a:lnTo>
                  <a:lnTo>
                    <a:pt x="689763" y="795784"/>
                  </a:lnTo>
                  <a:lnTo>
                    <a:pt x="674709" y="839118"/>
                  </a:lnTo>
                  <a:lnTo>
                    <a:pt x="654358" y="879667"/>
                  </a:lnTo>
                  <a:lnTo>
                    <a:pt x="629130" y="917013"/>
                  </a:lnTo>
                  <a:lnTo>
                    <a:pt x="599443" y="950737"/>
                  </a:lnTo>
                  <a:lnTo>
                    <a:pt x="565715" y="980421"/>
                  </a:lnTo>
                  <a:lnTo>
                    <a:pt x="528367" y="1005647"/>
                  </a:lnTo>
                  <a:lnTo>
                    <a:pt x="487815" y="1025995"/>
                  </a:lnTo>
                  <a:lnTo>
                    <a:pt x="444479" y="1041047"/>
                  </a:lnTo>
                  <a:lnTo>
                    <a:pt x="398777" y="1050386"/>
                  </a:lnTo>
                  <a:lnTo>
                    <a:pt x="351129" y="1053591"/>
                  </a:lnTo>
                  <a:lnTo>
                    <a:pt x="303484" y="1050386"/>
                  </a:lnTo>
                  <a:lnTo>
                    <a:pt x="257787" y="1041047"/>
                  </a:lnTo>
                  <a:lnTo>
                    <a:pt x="214457" y="1025995"/>
                  </a:lnTo>
                  <a:lnTo>
                    <a:pt x="173910" y="1005647"/>
                  </a:lnTo>
                  <a:lnTo>
                    <a:pt x="136567" y="980421"/>
                  </a:lnTo>
                  <a:lnTo>
                    <a:pt x="102846" y="950737"/>
                  </a:lnTo>
                  <a:lnTo>
                    <a:pt x="73164" y="917013"/>
                  </a:lnTo>
                  <a:lnTo>
                    <a:pt x="47941" y="879667"/>
                  </a:lnTo>
                  <a:lnTo>
                    <a:pt x="27594" y="839118"/>
                  </a:lnTo>
                  <a:lnTo>
                    <a:pt x="12543" y="795784"/>
                  </a:lnTo>
                  <a:lnTo>
                    <a:pt x="3205" y="750084"/>
                  </a:lnTo>
                  <a:lnTo>
                    <a:pt x="0" y="702436"/>
                  </a:lnTo>
                  <a:lnTo>
                    <a:pt x="0" y="351154"/>
                  </a:lnTo>
                  <a:close/>
                </a:path>
              </a:pathLst>
            </a:custGeom>
            <a:ln w="7620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2309" y="1221105"/>
              <a:ext cx="80403" cy="165735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610234" y="2046858"/>
            <a:ext cx="709930" cy="1061720"/>
            <a:chOff x="610234" y="2046858"/>
            <a:chExt cx="709930" cy="1061720"/>
          </a:xfrm>
        </p:grpSpPr>
        <p:sp>
          <p:nvSpPr>
            <p:cNvPr id="9" name="object 9" descr=""/>
            <p:cNvSpPr/>
            <p:nvPr/>
          </p:nvSpPr>
          <p:spPr>
            <a:xfrm>
              <a:off x="614044" y="2050668"/>
              <a:ext cx="702310" cy="1054100"/>
            </a:xfrm>
            <a:custGeom>
              <a:avLst/>
              <a:gdLst/>
              <a:ahLst/>
              <a:cxnLst/>
              <a:rect l="l" t="t" r="r" b="b"/>
              <a:pathLst>
                <a:path w="702310" h="1054100">
                  <a:moveTo>
                    <a:pt x="351129" y="0"/>
                  </a:moveTo>
                  <a:lnTo>
                    <a:pt x="303484" y="3205"/>
                  </a:lnTo>
                  <a:lnTo>
                    <a:pt x="257787" y="12544"/>
                  </a:lnTo>
                  <a:lnTo>
                    <a:pt x="214457" y="27596"/>
                  </a:lnTo>
                  <a:lnTo>
                    <a:pt x="173910" y="47944"/>
                  </a:lnTo>
                  <a:lnTo>
                    <a:pt x="136567" y="73170"/>
                  </a:lnTo>
                  <a:lnTo>
                    <a:pt x="102846" y="102854"/>
                  </a:lnTo>
                  <a:lnTo>
                    <a:pt x="73164" y="136578"/>
                  </a:lnTo>
                  <a:lnTo>
                    <a:pt x="47941" y="173924"/>
                  </a:lnTo>
                  <a:lnTo>
                    <a:pt x="27594" y="214473"/>
                  </a:lnTo>
                  <a:lnTo>
                    <a:pt x="12543" y="257807"/>
                  </a:lnTo>
                  <a:lnTo>
                    <a:pt x="3205" y="303507"/>
                  </a:lnTo>
                  <a:lnTo>
                    <a:pt x="0" y="351154"/>
                  </a:lnTo>
                  <a:lnTo>
                    <a:pt x="0" y="702436"/>
                  </a:lnTo>
                  <a:lnTo>
                    <a:pt x="3205" y="750084"/>
                  </a:lnTo>
                  <a:lnTo>
                    <a:pt x="12543" y="795784"/>
                  </a:lnTo>
                  <a:lnTo>
                    <a:pt x="27594" y="839118"/>
                  </a:lnTo>
                  <a:lnTo>
                    <a:pt x="47941" y="879667"/>
                  </a:lnTo>
                  <a:lnTo>
                    <a:pt x="73164" y="917013"/>
                  </a:lnTo>
                  <a:lnTo>
                    <a:pt x="102846" y="950737"/>
                  </a:lnTo>
                  <a:lnTo>
                    <a:pt x="136567" y="980421"/>
                  </a:lnTo>
                  <a:lnTo>
                    <a:pt x="173910" y="1005647"/>
                  </a:lnTo>
                  <a:lnTo>
                    <a:pt x="214457" y="1025995"/>
                  </a:lnTo>
                  <a:lnTo>
                    <a:pt x="257787" y="1041047"/>
                  </a:lnTo>
                  <a:lnTo>
                    <a:pt x="303484" y="1050386"/>
                  </a:lnTo>
                  <a:lnTo>
                    <a:pt x="351129" y="1053591"/>
                  </a:lnTo>
                  <a:lnTo>
                    <a:pt x="398777" y="1050386"/>
                  </a:lnTo>
                  <a:lnTo>
                    <a:pt x="444479" y="1041047"/>
                  </a:lnTo>
                  <a:lnTo>
                    <a:pt x="487815" y="1025995"/>
                  </a:lnTo>
                  <a:lnTo>
                    <a:pt x="528367" y="1005647"/>
                  </a:lnTo>
                  <a:lnTo>
                    <a:pt x="565715" y="980421"/>
                  </a:lnTo>
                  <a:lnTo>
                    <a:pt x="599443" y="950737"/>
                  </a:lnTo>
                  <a:lnTo>
                    <a:pt x="629130" y="917013"/>
                  </a:lnTo>
                  <a:lnTo>
                    <a:pt x="654358" y="879667"/>
                  </a:lnTo>
                  <a:lnTo>
                    <a:pt x="674709" y="839118"/>
                  </a:lnTo>
                  <a:lnTo>
                    <a:pt x="689763" y="795784"/>
                  </a:lnTo>
                  <a:lnTo>
                    <a:pt x="699103" y="750084"/>
                  </a:lnTo>
                  <a:lnTo>
                    <a:pt x="702310" y="702436"/>
                  </a:lnTo>
                  <a:lnTo>
                    <a:pt x="702310" y="351154"/>
                  </a:lnTo>
                  <a:lnTo>
                    <a:pt x="699103" y="303507"/>
                  </a:lnTo>
                  <a:lnTo>
                    <a:pt x="689763" y="257807"/>
                  </a:lnTo>
                  <a:lnTo>
                    <a:pt x="674709" y="214473"/>
                  </a:lnTo>
                  <a:lnTo>
                    <a:pt x="654358" y="173924"/>
                  </a:lnTo>
                  <a:lnTo>
                    <a:pt x="629130" y="136578"/>
                  </a:lnTo>
                  <a:lnTo>
                    <a:pt x="599443" y="102854"/>
                  </a:lnTo>
                  <a:lnTo>
                    <a:pt x="565715" y="73170"/>
                  </a:lnTo>
                  <a:lnTo>
                    <a:pt x="528367" y="47944"/>
                  </a:lnTo>
                  <a:lnTo>
                    <a:pt x="487815" y="27596"/>
                  </a:lnTo>
                  <a:lnTo>
                    <a:pt x="444479" y="12544"/>
                  </a:lnTo>
                  <a:lnTo>
                    <a:pt x="398777" y="3205"/>
                  </a:lnTo>
                  <a:lnTo>
                    <a:pt x="351129" y="0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14044" y="2050668"/>
              <a:ext cx="702310" cy="1054100"/>
            </a:xfrm>
            <a:custGeom>
              <a:avLst/>
              <a:gdLst/>
              <a:ahLst/>
              <a:cxnLst/>
              <a:rect l="l" t="t" r="r" b="b"/>
              <a:pathLst>
                <a:path w="702310" h="1054100">
                  <a:moveTo>
                    <a:pt x="0" y="351154"/>
                  </a:moveTo>
                  <a:lnTo>
                    <a:pt x="3205" y="303507"/>
                  </a:lnTo>
                  <a:lnTo>
                    <a:pt x="12543" y="257807"/>
                  </a:lnTo>
                  <a:lnTo>
                    <a:pt x="27594" y="214473"/>
                  </a:lnTo>
                  <a:lnTo>
                    <a:pt x="47941" y="173924"/>
                  </a:lnTo>
                  <a:lnTo>
                    <a:pt x="73164" y="136578"/>
                  </a:lnTo>
                  <a:lnTo>
                    <a:pt x="102846" y="102854"/>
                  </a:lnTo>
                  <a:lnTo>
                    <a:pt x="136567" y="73170"/>
                  </a:lnTo>
                  <a:lnTo>
                    <a:pt x="173910" y="47944"/>
                  </a:lnTo>
                  <a:lnTo>
                    <a:pt x="214457" y="27596"/>
                  </a:lnTo>
                  <a:lnTo>
                    <a:pt x="257787" y="12544"/>
                  </a:lnTo>
                  <a:lnTo>
                    <a:pt x="303484" y="3205"/>
                  </a:lnTo>
                  <a:lnTo>
                    <a:pt x="351129" y="0"/>
                  </a:lnTo>
                  <a:lnTo>
                    <a:pt x="398777" y="3205"/>
                  </a:lnTo>
                  <a:lnTo>
                    <a:pt x="444479" y="12544"/>
                  </a:lnTo>
                  <a:lnTo>
                    <a:pt x="487815" y="27596"/>
                  </a:lnTo>
                  <a:lnTo>
                    <a:pt x="528367" y="47944"/>
                  </a:lnTo>
                  <a:lnTo>
                    <a:pt x="565715" y="73170"/>
                  </a:lnTo>
                  <a:lnTo>
                    <a:pt x="599443" y="102854"/>
                  </a:lnTo>
                  <a:lnTo>
                    <a:pt x="629130" y="136578"/>
                  </a:lnTo>
                  <a:lnTo>
                    <a:pt x="654358" y="173924"/>
                  </a:lnTo>
                  <a:lnTo>
                    <a:pt x="674709" y="214473"/>
                  </a:lnTo>
                  <a:lnTo>
                    <a:pt x="689763" y="257807"/>
                  </a:lnTo>
                  <a:lnTo>
                    <a:pt x="699103" y="303507"/>
                  </a:lnTo>
                  <a:lnTo>
                    <a:pt x="702310" y="351154"/>
                  </a:lnTo>
                  <a:lnTo>
                    <a:pt x="702310" y="702436"/>
                  </a:lnTo>
                  <a:lnTo>
                    <a:pt x="699103" y="750084"/>
                  </a:lnTo>
                  <a:lnTo>
                    <a:pt x="689763" y="795784"/>
                  </a:lnTo>
                  <a:lnTo>
                    <a:pt x="674709" y="839118"/>
                  </a:lnTo>
                  <a:lnTo>
                    <a:pt x="654358" y="879667"/>
                  </a:lnTo>
                  <a:lnTo>
                    <a:pt x="629130" y="917013"/>
                  </a:lnTo>
                  <a:lnTo>
                    <a:pt x="599443" y="950737"/>
                  </a:lnTo>
                  <a:lnTo>
                    <a:pt x="565715" y="980421"/>
                  </a:lnTo>
                  <a:lnTo>
                    <a:pt x="528367" y="1005647"/>
                  </a:lnTo>
                  <a:lnTo>
                    <a:pt x="487815" y="1025995"/>
                  </a:lnTo>
                  <a:lnTo>
                    <a:pt x="444479" y="1041047"/>
                  </a:lnTo>
                  <a:lnTo>
                    <a:pt x="398777" y="1050386"/>
                  </a:lnTo>
                  <a:lnTo>
                    <a:pt x="351129" y="1053591"/>
                  </a:lnTo>
                  <a:lnTo>
                    <a:pt x="303484" y="1050386"/>
                  </a:lnTo>
                  <a:lnTo>
                    <a:pt x="257787" y="1041047"/>
                  </a:lnTo>
                  <a:lnTo>
                    <a:pt x="214457" y="1025995"/>
                  </a:lnTo>
                  <a:lnTo>
                    <a:pt x="173910" y="1005647"/>
                  </a:lnTo>
                  <a:lnTo>
                    <a:pt x="136567" y="980421"/>
                  </a:lnTo>
                  <a:lnTo>
                    <a:pt x="102846" y="950737"/>
                  </a:lnTo>
                  <a:lnTo>
                    <a:pt x="73164" y="917013"/>
                  </a:lnTo>
                  <a:lnTo>
                    <a:pt x="47941" y="879667"/>
                  </a:lnTo>
                  <a:lnTo>
                    <a:pt x="27594" y="839118"/>
                  </a:lnTo>
                  <a:lnTo>
                    <a:pt x="12543" y="795784"/>
                  </a:lnTo>
                  <a:lnTo>
                    <a:pt x="3205" y="750084"/>
                  </a:lnTo>
                  <a:lnTo>
                    <a:pt x="0" y="702436"/>
                  </a:lnTo>
                  <a:lnTo>
                    <a:pt x="0" y="351154"/>
                  </a:lnTo>
                  <a:close/>
                </a:path>
              </a:pathLst>
            </a:custGeom>
            <a:ln w="7620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8486" y="2449575"/>
              <a:ext cx="105067" cy="167132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610234" y="3275965"/>
            <a:ext cx="709930" cy="1061720"/>
            <a:chOff x="610234" y="3275965"/>
            <a:chExt cx="709930" cy="1061720"/>
          </a:xfrm>
        </p:grpSpPr>
        <p:sp>
          <p:nvSpPr>
            <p:cNvPr id="13" name="object 13" descr=""/>
            <p:cNvSpPr/>
            <p:nvPr/>
          </p:nvSpPr>
          <p:spPr>
            <a:xfrm>
              <a:off x="614044" y="3279775"/>
              <a:ext cx="702310" cy="1054100"/>
            </a:xfrm>
            <a:custGeom>
              <a:avLst/>
              <a:gdLst/>
              <a:ahLst/>
              <a:cxnLst/>
              <a:rect l="l" t="t" r="r" b="b"/>
              <a:pathLst>
                <a:path w="702310" h="1054100">
                  <a:moveTo>
                    <a:pt x="351129" y="0"/>
                  </a:moveTo>
                  <a:lnTo>
                    <a:pt x="303484" y="3205"/>
                  </a:lnTo>
                  <a:lnTo>
                    <a:pt x="257787" y="12544"/>
                  </a:lnTo>
                  <a:lnTo>
                    <a:pt x="214457" y="27596"/>
                  </a:lnTo>
                  <a:lnTo>
                    <a:pt x="173910" y="47944"/>
                  </a:lnTo>
                  <a:lnTo>
                    <a:pt x="136567" y="73170"/>
                  </a:lnTo>
                  <a:lnTo>
                    <a:pt x="102846" y="102854"/>
                  </a:lnTo>
                  <a:lnTo>
                    <a:pt x="73164" y="136578"/>
                  </a:lnTo>
                  <a:lnTo>
                    <a:pt x="47941" y="173924"/>
                  </a:lnTo>
                  <a:lnTo>
                    <a:pt x="27594" y="214473"/>
                  </a:lnTo>
                  <a:lnTo>
                    <a:pt x="12543" y="257807"/>
                  </a:lnTo>
                  <a:lnTo>
                    <a:pt x="3205" y="303507"/>
                  </a:lnTo>
                  <a:lnTo>
                    <a:pt x="0" y="351154"/>
                  </a:lnTo>
                  <a:lnTo>
                    <a:pt x="0" y="702437"/>
                  </a:lnTo>
                  <a:lnTo>
                    <a:pt x="3205" y="750084"/>
                  </a:lnTo>
                  <a:lnTo>
                    <a:pt x="12543" y="795784"/>
                  </a:lnTo>
                  <a:lnTo>
                    <a:pt x="27594" y="839118"/>
                  </a:lnTo>
                  <a:lnTo>
                    <a:pt x="47941" y="879667"/>
                  </a:lnTo>
                  <a:lnTo>
                    <a:pt x="73164" y="917013"/>
                  </a:lnTo>
                  <a:lnTo>
                    <a:pt x="102846" y="950737"/>
                  </a:lnTo>
                  <a:lnTo>
                    <a:pt x="136567" y="980421"/>
                  </a:lnTo>
                  <a:lnTo>
                    <a:pt x="173910" y="1005647"/>
                  </a:lnTo>
                  <a:lnTo>
                    <a:pt x="214457" y="1025995"/>
                  </a:lnTo>
                  <a:lnTo>
                    <a:pt x="257787" y="1041047"/>
                  </a:lnTo>
                  <a:lnTo>
                    <a:pt x="303484" y="1050386"/>
                  </a:lnTo>
                  <a:lnTo>
                    <a:pt x="351129" y="1053591"/>
                  </a:lnTo>
                  <a:lnTo>
                    <a:pt x="398777" y="1050386"/>
                  </a:lnTo>
                  <a:lnTo>
                    <a:pt x="444479" y="1041047"/>
                  </a:lnTo>
                  <a:lnTo>
                    <a:pt x="487815" y="1025995"/>
                  </a:lnTo>
                  <a:lnTo>
                    <a:pt x="528367" y="1005647"/>
                  </a:lnTo>
                  <a:lnTo>
                    <a:pt x="565715" y="980421"/>
                  </a:lnTo>
                  <a:lnTo>
                    <a:pt x="599443" y="950737"/>
                  </a:lnTo>
                  <a:lnTo>
                    <a:pt x="629130" y="917013"/>
                  </a:lnTo>
                  <a:lnTo>
                    <a:pt x="654358" y="879667"/>
                  </a:lnTo>
                  <a:lnTo>
                    <a:pt x="674709" y="839118"/>
                  </a:lnTo>
                  <a:lnTo>
                    <a:pt x="689763" y="795784"/>
                  </a:lnTo>
                  <a:lnTo>
                    <a:pt x="699103" y="750084"/>
                  </a:lnTo>
                  <a:lnTo>
                    <a:pt x="702310" y="702437"/>
                  </a:lnTo>
                  <a:lnTo>
                    <a:pt x="702310" y="351154"/>
                  </a:lnTo>
                  <a:lnTo>
                    <a:pt x="699103" y="303507"/>
                  </a:lnTo>
                  <a:lnTo>
                    <a:pt x="689763" y="257807"/>
                  </a:lnTo>
                  <a:lnTo>
                    <a:pt x="674709" y="214473"/>
                  </a:lnTo>
                  <a:lnTo>
                    <a:pt x="654358" y="173924"/>
                  </a:lnTo>
                  <a:lnTo>
                    <a:pt x="629130" y="136578"/>
                  </a:lnTo>
                  <a:lnTo>
                    <a:pt x="599443" y="102854"/>
                  </a:lnTo>
                  <a:lnTo>
                    <a:pt x="565715" y="73170"/>
                  </a:lnTo>
                  <a:lnTo>
                    <a:pt x="528367" y="47944"/>
                  </a:lnTo>
                  <a:lnTo>
                    <a:pt x="487815" y="27596"/>
                  </a:lnTo>
                  <a:lnTo>
                    <a:pt x="444479" y="12544"/>
                  </a:lnTo>
                  <a:lnTo>
                    <a:pt x="398777" y="3205"/>
                  </a:lnTo>
                  <a:lnTo>
                    <a:pt x="351129" y="0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14044" y="3279775"/>
              <a:ext cx="702310" cy="1054100"/>
            </a:xfrm>
            <a:custGeom>
              <a:avLst/>
              <a:gdLst/>
              <a:ahLst/>
              <a:cxnLst/>
              <a:rect l="l" t="t" r="r" b="b"/>
              <a:pathLst>
                <a:path w="702310" h="1054100">
                  <a:moveTo>
                    <a:pt x="0" y="351154"/>
                  </a:moveTo>
                  <a:lnTo>
                    <a:pt x="3205" y="303507"/>
                  </a:lnTo>
                  <a:lnTo>
                    <a:pt x="12543" y="257807"/>
                  </a:lnTo>
                  <a:lnTo>
                    <a:pt x="27594" y="214473"/>
                  </a:lnTo>
                  <a:lnTo>
                    <a:pt x="47941" y="173924"/>
                  </a:lnTo>
                  <a:lnTo>
                    <a:pt x="73164" y="136578"/>
                  </a:lnTo>
                  <a:lnTo>
                    <a:pt x="102846" y="102854"/>
                  </a:lnTo>
                  <a:lnTo>
                    <a:pt x="136567" y="73170"/>
                  </a:lnTo>
                  <a:lnTo>
                    <a:pt x="173910" y="47944"/>
                  </a:lnTo>
                  <a:lnTo>
                    <a:pt x="214457" y="27596"/>
                  </a:lnTo>
                  <a:lnTo>
                    <a:pt x="257787" y="12544"/>
                  </a:lnTo>
                  <a:lnTo>
                    <a:pt x="303484" y="3205"/>
                  </a:lnTo>
                  <a:lnTo>
                    <a:pt x="351129" y="0"/>
                  </a:lnTo>
                  <a:lnTo>
                    <a:pt x="398777" y="3205"/>
                  </a:lnTo>
                  <a:lnTo>
                    <a:pt x="444479" y="12544"/>
                  </a:lnTo>
                  <a:lnTo>
                    <a:pt x="487815" y="27596"/>
                  </a:lnTo>
                  <a:lnTo>
                    <a:pt x="528367" y="47944"/>
                  </a:lnTo>
                  <a:lnTo>
                    <a:pt x="565715" y="73170"/>
                  </a:lnTo>
                  <a:lnTo>
                    <a:pt x="599443" y="102854"/>
                  </a:lnTo>
                  <a:lnTo>
                    <a:pt x="629130" y="136578"/>
                  </a:lnTo>
                  <a:lnTo>
                    <a:pt x="654358" y="173924"/>
                  </a:lnTo>
                  <a:lnTo>
                    <a:pt x="674709" y="214473"/>
                  </a:lnTo>
                  <a:lnTo>
                    <a:pt x="689763" y="257807"/>
                  </a:lnTo>
                  <a:lnTo>
                    <a:pt x="699103" y="303507"/>
                  </a:lnTo>
                  <a:lnTo>
                    <a:pt x="702310" y="351154"/>
                  </a:lnTo>
                  <a:lnTo>
                    <a:pt x="702310" y="702437"/>
                  </a:lnTo>
                  <a:lnTo>
                    <a:pt x="699103" y="750084"/>
                  </a:lnTo>
                  <a:lnTo>
                    <a:pt x="689763" y="795784"/>
                  </a:lnTo>
                  <a:lnTo>
                    <a:pt x="674709" y="839118"/>
                  </a:lnTo>
                  <a:lnTo>
                    <a:pt x="654358" y="879667"/>
                  </a:lnTo>
                  <a:lnTo>
                    <a:pt x="629130" y="917013"/>
                  </a:lnTo>
                  <a:lnTo>
                    <a:pt x="599443" y="950737"/>
                  </a:lnTo>
                  <a:lnTo>
                    <a:pt x="565715" y="980421"/>
                  </a:lnTo>
                  <a:lnTo>
                    <a:pt x="528367" y="1005647"/>
                  </a:lnTo>
                  <a:lnTo>
                    <a:pt x="487815" y="1025995"/>
                  </a:lnTo>
                  <a:lnTo>
                    <a:pt x="444479" y="1041047"/>
                  </a:lnTo>
                  <a:lnTo>
                    <a:pt x="398777" y="1050386"/>
                  </a:lnTo>
                  <a:lnTo>
                    <a:pt x="351129" y="1053591"/>
                  </a:lnTo>
                  <a:lnTo>
                    <a:pt x="303484" y="1050386"/>
                  </a:lnTo>
                  <a:lnTo>
                    <a:pt x="257787" y="1041047"/>
                  </a:lnTo>
                  <a:lnTo>
                    <a:pt x="214457" y="1025995"/>
                  </a:lnTo>
                  <a:lnTo>
                    <a:pt x="173910" y="1005647"/>
                  </a:lnTo>
                  <a:lnTo>
                    <a:pt x="136567" y="980421"/>
                  </a:lnTo>
                  <a:lnTo>
                    <a:pt x="102846" y="950737"/>
                  </a:lnTo>
                  <a:lnTo>
                    <a:pt x="73164" y="917013"/>
                  </a:lnTo>
                  <a:lnTo>
                    <a:pt x="47941" y="879667"/>
                  </a:lnTo>
                  <a:lnTo>
                    <a:pt x="27594" y="839118"/>
                  </a:lnTo>
                  <a:lnTo>
                    <a:pt x="12543" y="795784"/>
                  </a:lnTo>
                  <a:lnTo>
                    <a:pt x="3205" y="750084"/>
                  </a:lnTo>
                  <a:lnTo>
                    <a:pt x="0" y="702437"/>
                  </a:lnTo>
                  <a:lnTo>
                    <a:pt x="0" y="351154"/>
                  </a:lnTo>
                  <a:close/>
                </a:path>
              </a:pathLst>
            </a:custGeom>
            <a:ln w="7620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7394" y="3677920"/>
              <a:ext cx="108356" cy="169544"/>
            </a:xfrm>
            <a:prstGeom prst="rect">
              <a:avLst/>
            </a:prstGeom>
          </p:spPr>
        </p:pic>
      </p:grpSp>
      <p:grpSp>
        <p:nvGrpSpPr>
          <p:cNvPr id="16" name="object 16" descr=""/>
          <p:cNvGrpSpPr/>
          <p:nvPr/>
        </p:nvGrpSpPr>
        <p:grpSpPr>
          <a:xfrm>
            <a:off x="610234" y="4505071"/>
            <a:ext cx="709930" cy="1061085"/>
            <a:chOff x="610234" y="4505071"/>
            <a:chExt cx="709930" cy="1061085"/>
          </a:xfrm>
        </p:grpSpPr>
        <p:sp>
          <p:nvSpPr>
            <p:cNvPr id="17" name="object 17" descr=""/>
            <p:cNvSpPr/>
            <p:nvPr/>
          </p:nvSpPr>
          <p:spPr>
            <a:xfrm>
              <a:off x="614044" y="4508881"/>
              <a:ext cx="702310" cy="1053465"/>
            </a:xfrm>
            <a:custGeom>
              <a:avLst/>
              <a:gdLst/>
              <a:ahLst/>
              <a:cxnLst/>
              <a:rect l="l" t="t" r="r" b="b"/>
              <a:pathLst>
                <a:path w="702310" h="1053464">
                  <a:moveTo>
                    <a:pt x="351129" y="0"/>
                  </a:moveTo>
                  <a:lnTo>
                    <a:pt x="303484" y="3203"/>
                  </a:lnTo>
                  <a:lnTo>
                    <a:pt x="257787" y="12534"/>
                  </a:lnTo>
                  <a:lnTo>
                    <a:pt x="214457" y="27576"/>
                  </a:lnTo>
                  <a:lnTo>
                    <a:pt x="173910" y="47911"/>
                  </a:lnTo>
                  <a:lnTo>
                    <a:pt x="136567" y="73122"/>
                  </a:lnTo>
                  <a:lnTo>
                    <a:pt x="102846" y="102790"/>
                  </a:lnTo>
                  <a:lnTo>
                    <a:pt x="73164" y="136499"/>
                  </a:lnTo>
                  <a:lnTo>
                    <a:pt x="47941" y="173830"/>
                  </a:lnTo>
                  <a:lnTo>
                    <a:pt x="27594" y="214366"/>
                  </a:lnTo>
                  <a:lnTo>
                    <a:pt x="12543" y="257689"/>
                  </a:lnTo>
                  <a:lnTo>
                    <a:pt x="3205" y="303382"/>
                  </a:lnTo>
                  <a:lnTo>
                    <a:pt x="0" y="351028"/>
                  </a:lnTo>
                  <a:lnTo>
                    <a:pt x="0" y="702183"/>
                  </a:lnTo>
                  <a:lnTo>
                    <a:pt x="3205" y="749860"/>
                  </a:lnTo>
                  <a:lnTo>
                    <a:pt x="12543" y="795584"/>
                  </a:lnTo>
                  <a:lnTo>
                    <a:pt x="27594" y="838938"/>
                  </a:lnTo>
                  <a:lnTo>
                    <a:pt x="47941" y="879503"/>
                  </a:lnTo>
                  <a:lnTo>
                    <a:pt x="73164" y="916861"/>
                  </a:lnTo>
                  <a:lnTo>
                    <a:pt x="102846" y="950595"/>
                  </a:lnTo>
                  <a:lnTo>
                    <a:pt x="136567" y="980285"/>
                  </a:lnTo>
                  <a:lnTo>
                    <a:pt x="173910" y="1005515"/>
                  </a:lnTo>
                  <a:lnTo>
                    <a:pt x="214457" y="1025866"/>
                  </a:lnTo>
                  <a:lnTo>
                    <a:pt x="257787" y="1040920"/>
                  </a:lnTo>
                  <a:lnTo>
                    <a:pt x="303484" y="1050259"/>
                  </a:lnTo>
                  <a:lnTo>
                    <a:pt x="351129" y="1053465"/>
                  </a:lnTo>
                  <a:lnTo>
                    <a:pt x="398777" y="1050259"/>
                  </a:lnTo>
                  <a:lnTo>
                    <a:pt x="444479" y="1040920"/>
                  </a:lnTo>
                  <a:lnTo>
                    <a:pt x="487815" y="1025866"/>
                  </a:lnTo>
                  <a:lnTo>
                    <a:pt x="528367" y="1005515"/>
                  </a:lnTo>
                  <a:lnTo>
                    <a:pt x="565715" y="980285"/>
                  </a:lnTo>
                  <a:lnTo>
                    <a:pt x="599443" y="950594"/>
                  </a:lnTo>
                  <a:lnTo>
                    <a:pt x="629130" y="916861"/>
                  </a:lnTo>
                  <a:lnTo>
                    <a:pt x="654358" y="879503"/>
                  </a:lnTo>
                  <a:lnTo>
                    <a:pt x="674709" y="838938"/>
                  </a:lnTo>
                  <a:lnTo>
                    <a:pt x="689763" y="795584"/>
                  </a:lnTo>
                  <a:lnTo>
                    <a:pt x="699103" y="749860"/>
                  </a:lnTo>
                  <a:lnTo>
                    <a:pt x="702310" y="702183"/>
                  </a:lnTo>
                  <a:lnTo>
                    <a:pt x="702310" y="351028"/>
                  </a:lnTo>
                  <a:lnTo>
                    <a:pt x="699103" y="303382"/>
                  </a:lnTo>
                  <a:lnTo>
                    <a:pt x="689763" y="257689"/>
                  </a:lnTo>
                  <a:lnTo>
                    <a:pt x="674709" y="214366"/>
                  </a:lnTo>
                  <a:lnTo>
                    <a:pt x="654358" y="173830"/>
                  </a:lnTo>
                  <a:lnTo>
                    <a:pt x="629130" y="136499"/>
                  </a:lnTo>
                  <a:lnTo>
                    <a:pt x="599443" y="102790"/>
                  </a:lnTo>
                  <a:lnTo>
                    <a:pt x="565715" y="73122"/>
                  </a:lnTo>
                  <a:lnTo>
                    <a:pt x="528367" y="47911"/>
                  </a:lnTo>
                  <a:lnTo>
                    <a:pt x="487815" y="27576"/>
                  </a:lnTo>
                  <a:lnTo>
                    <a:pt x="444479" y="12534"/>
                  </a:lnTo>
                  <a:lnTo>
                    <a:pt x="398777" y="3203"/>
                  </a:lnTo>
                  <a:lnTo>
                    <a:pt x="351129" y="0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14044" y="4508881"/>
              <a:ext cx="702310" cy="1053465"/>
            </a:xfrm>
            <a:custGeom>
              <a:avLst/>
              <a:gdLst/>
              <a:ahLst/>
              <a:cxnLst/>
              <a:rect l="l" t="t" r="r" b="b"/>
              <a:pathLst>
                <a:path w="702310" h="1053464">
                  <a:moveTo>
                    <a:pt x="0" y="351028"/>
                  </a:moveTo>
                  <a:lnTo>
                    <a:pt x="3205" y="303382"/>
                  </a:lnTo>
                  <a:lnTo>
                    <a:pt x="12543" y="257689"/>
                  </a:lnTo>
                  <a:lnTo>
                    <a:pt x="27594" y="214366"/>
                  </a:lnTo>
                  <a:lnTo>
                    <a:pt x="47941" y="173830"/>
                  </a:lnTo>
                  <a:lnTo>
                    <a:pt x="73164" y="136499"/>
                  </a:lnTo>
                  <a:lnTo>
                    <a:pt x="102846" y="102790"/>
                  </a:lnTo>
                  <a:lnTo>
                    <a:pt x="136567" y="73122"/>
                  </a:lnTo>
                  <a:lnTo>
                    <a:pt x="173910" y="47911"/>
                  </a:lnTo>
                  <a:lnTo>
                    <a:pt x="214457" y="27576"/>
                  </a:lnTo>
                  <a:lnTo>
                    <a:pt x="257787" y="12534"/>
                  </a:lnTo>
                  <a:lnTo>
                    <a:pt x="303484" y="3203"/>
                  </a:lnTo>
                  <a:lnTo>
                    <a:pt x="351129" y="0"/>
                  </a:lnTo>
                  <a:lnTo>
                    <a:pt x="398777" y="3203"/>
                  </a:lnTo>
                  <a:lnTo>
                    <a:pt x="444479" y="12534"/>
                  </a:lnTo>
                  <a:lnTo>
                    <a:pt x="487815" y="27576"/>
                  </a:lnTo>
                  <a:lnTo>
                    <a:pt x="528367" y="47911"/>
                  </a:lnTo>
                  <a:lnTo>
                    <a:pt x="565715" y="73122"/>
                  </a:lnTo>
                  <a:lnTo>
                    <a:pt x="599443" y="102790"/>
                  </a:lnTo>
                  <a:lnTo>
                    <a:pt x="629130" y="136499"/>
                  </a:lnTo>
                  <a:lnTo>
                    <a:pt x="654358" y="173830"/>
                  </a:lnTo>
                  <a:lnTo>
                    <a:pt x="674709" y="214366"/>
                  </a:lnTo>
                  <a:lnTo>
                    <a:pt x="689763" y="257689"/>
                  </a:lnTo>
                  <a:lnTo>
                    <a:pt x="699103" y="303382"/>
                  </a:lnTo>
                  <a:lnTo>
                    <a:pt x="702310" y="351028"/>
                  </a:lnTo>
                  <a:lnTo>
                    <a:pt x="702310" y="702183"/>
                  </a:lnTo>
                  <a:lnTo>
                    <a:pt x="699103" y="749860"/>
                  </a:lnTo>
                  <a:lnTo>
                    <a:pt x="689763" y="795584"/>
                  </a:lnTo>
                  <a:lnTo>
                    <a:pt x="674709" y="838938"/>
                  </a:lnTo>
                  <a:lnTo>
                    <a:pt x="654358" y="879503"/>
                  </a:lnTo>
                  <a:lnTo>
                    <a:pt x="629130" y="916861"/>
                  </a:lnTo>
                  <a:lnTo>
                    <a:pt x="599443" y="950594"/>
                  </a:lnTo>
                  <a:lnTo>
                    <a:pt x="565715" y="980285"/>
                  </a:lnTo>
                  <a:lnTo>
                    <a:pt x="528367" y="1005515"/>
                  </a:lnTo>
                  <a:lnTo>
                    <a:pt x="487815" y="1025866"/>
                  </a:lnTo>
                  <a:lnTo>
                    <a:pt x="444479" y="1040920"/>
                  </a:lnTo>
                  <a:lnTo>
                    <a:pt x="398777" y="1050259"/>
                  </a:lnTo>
                  <a:lnTo>
                    <a:pt x="351129" y="1053465"/>
                  </a:lnTo>
                  <a:lnTo>
                    <a:pt x="303484" y="1050259"/>
                  </a:lnTo>
                  <a:lnTo>
                    <a:pt x="257787" y="1040920"/>
                  </a:lnTo>
                  <a:lnTo>
                    <a:pt x="214457" y="1025866"/>
                  </a:lnTo>
                  <a:lnTo>
                    <a:pt x="173910" y="1005515"/>
                  </a:lnTo>
                  <a:lnTo>
                    <a:pt x="136567" y="980285"/>
                  </a:lnTo>
                  <a:lnTo>
                    <a:pt x="102846" y="950595"/>
                  </a:lnTo>
                  <a:lnTo>
                    <a:pt x="73164" y="916861"/>
                  </a:lnTo>
                  <a:lnTo>
                    <a:pt x="47941" y="879503"/>
                  </a:lnTo>
                  <a:lnTo>
                    <a:pt x="27594" y="838938"/>
                  </a:lnTo>
                  <a:lnTo>
                    <a:pt x="12543" y="795584"/>
                  </a:lnTo>
                  <a:lnTo>
                    <a:pt x="3205" y="749860"/>
                  </a:lnTo>
                  <a:lnTo>
                    <a:pt x="0" y="702183"/>
                  </a:lnTo>
                  <a:lnTo>
                    <a:pt x="0" y="351028"/>
                  </a:lnTo>
                  <a:close/>
                </a:path>
              </a:pathLst>
            </a:custGeom>
            <a:ln w="7620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0270" y="4909693"/>
              <a:ext cx="126657" cy="165862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610234" y="5733922"/>
            <a:ext cx="709930" cy="1061720"/>
            <a:chOff x="610234" y="5733922"/>
            <a:chExt cx="709930" cy="1061720"/>
          </a:xfrm>
        </p:grpSpPr>
        <p:sp>
          <p:nvSpPr>
            <p:cNvPr id="21" name="object 21" descr=""/>
            <p:cNvSpPr/>
            <p:nvPr/>
          </p:nvSpPr>
          <p:spPr>
            <a:xfrm>
              <a:off x="614044" y="5737732"/>
              <a:ext cx="702310" cy="1054100"/>
            </a:xfrm>
            <a:custGeom>
              <a:avLst/>
              <a:gdLst/>
              <a:ahLst/>
              <a:cxnLst/>
              <a:rect l="l" t="t" r="r" b="b"/>
              <a:pathLst>
                <a:path w="702310" h="1054100">
                  <a:moveTo>
                    <a:pt x="351129" y="0"/>
                  </a:moveTo>
                  <a:lnTo>
                    <a:pt x="303484" y="3205"/>
                  </a:lnTo>
                  <a:lnTo>
                    <a:pt x="257787" y="12544"/>
                  </a:lnTo>
                  <a:lnTo>
                    <a:pt x="214457" y="27596"/>
                  </a:lnTo>
                  <a:lnTo>
                    <a:pt x="173910" y="47944"/>
                  </a:lnTo>
                  <a:lnTo>
                    <a:pt x="136567" y="73170"/>
                  </a:lnTo>
                  <a:lnTo>
                    <a:pt x="102846" y="102854"/>
                  </a:lnTo>
                  <a:lnTo>
                    <a:pt x="73164" y="136578"/>
                  </a:lnTo>
                  <a:lnTo>
                    <a:pt x="47941" y="173924"/>
                  </a:lnTo>
                  <a:lnTo>
                    <a:pt x="27594" y="214473"/>
                  </a:lnTo>
                  <a:lnTo>
                    <a:pt x="12543" y="257807"/>
                  </a:lnTo>
                  <a:lnTo>
                    <a:pt x="3205" y="303507"/>
                  </a:lnTo>
                  <a:lnTo>
                    <a:pt x="0" y="351155"/>
                  </a:lnTo>
                  <a:lnTo>
                    <a:pt x="0" y="702437"/>
                  </a:lnTo>
                  <a:lnTo>
                    <a:pt x="3205" y="750084"/>
                  </a:lnTo>
                  <a:lnTo>
                    <a:pt x="12543" y="795784"/>
                  </a:lnTo>
                  <a:lnTo>
                    <a:pt x="27594" y="839118"/>
                  </a:lnTo>
                  <a:lnTo>
                    <a:pt x="47941" y="879667"/>
                  </a:lnTo>
                  <a:lnTo>
                    <a:pt x="73164" y="917013"/>
                  </a:lnTo>
                  <a:lnTo>
                    <a:pt x="102846" y="950737"/>
                  </a:lnTo>
                  <a:lnTo>
                    <a:pt x="136567" y="980421"/>
                  </a:lnTo>
                  <a:lnTo>
                    <a:pt x="173910" y="1005647"/>
                  </a:lnTo>
                  <a:lnTo>
                    <a:pt x="214457" y="1025995"/>
                  </a:lnTo>
                  <a:lnTo>
                    <a:pt x="257787" y="1041047"/>
                  </a:lnTo>
                  <a:lnTo>
                    <a:pt x="303484" y="1050386"/>
                  </a:lnTo>
                  <a:lnTo>
                    <a:pt x="351129" y="1053592"/>
                  </a:lnTo>
                  <a:lnTo>
                    <a:pt x="398777" y="1050386"/>
                  </a:lnTo>
                  <a:lnTo>
                    <a:pt x="444479" y="1041047"/>
                  </a:lnTo>
                  <a:lnTo>
                    <a:pt x="487815" y="1025995"/>
                  </a:lnTo>
                  <a:lnTo>
                    <a:pt x="528367" y="1005647"/>
                  </a:lnTo>
                  <a:lnTo>
                    <a:pt x="565715" y="980421"/>
                  </a:lnTo>
                  <a:lnTo>
                    <a:pt x="599443" y="950737"/>
                  </a:lnTo>
                  <a:lnTo>
                    <a:pt x="629130" y="917013"/>
                  </a:lnTo>
                  <a:lnTo>
                    <a:pt x="654358" y="879667"/>
                  </a:lnTo>
                  <a:lnTo>
                    <a:pt x="674709" y="839118"/>
                  </a:lnTo>
                  <a:lnTo>
                    <a:pt x="689763" y="795784"/>
                  </a:lnTo>
                  <a:lnTo>
                    <a:pt x="699103" y="750084"/>
                  </a:lnTo>
                  <a:lnTo>
                    <a:pt x="702310" y="702437"/>
                  </a:lnTo>
                  <a:lnTo>
                    <a:pt x="702310" y="351155"/>
                  </a:lnTo>
                  <a:lnTo>
                    <a:pt x="699103" y="303507"/>
                  </a:lnTo>
                  <a:lnTo>
                    <a:pt x="689763" y="257807"/>
                  </a:lnTo>
                  <a:lnTo>
                    <a:pt x="674709" y="214473"/>
                  </a:lnTo>
                  <a:lnTo>
                    <a:pt x="654358" y="173924"/>
                  </a:lnTo>
                  <a:lnTo>
                    <a:pt x="629130" y="136578"/>
                  </a:lnTo>
                  <a:lnTo>
                    <a:pt x="599443" y="102854"/>
                  </a:lnTo>
                  <a:lnTo>
                    <a:pt x="565715" y="73170"/>
                  </a:lnTo>
                  <a:lnTo>
                    <a:pt x="528367" y="47944"/>
                  </a:lnTo>
                  <a:lnTo>
                    <a:pt x="487815" y="27596"/>
                  </a:lnTo>
                  <a:lnTo>
                    <a:pt x="444479" y="12544"/>
                  </a:lnTo>
                  <a:lnTo>
                    <a:pt x="398777" y="3205"/>
                  </a:lnTo>
                  <a:lnTo>
                    <a:pt x="351129" y="0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14044" y="5737732"/>
              <a:ext cx="702310" cy="1054100"/>
            </a:xfrm>
            <a:custGeom>
              <a:avLst/>
              <a:gdLst/>
              <a:ahLst/>
              <a:cxnLst/>
              <a:rect l="l" t="t" r="r" b="b"/>
              <a:pathLst>
                <a:path w="702310" h="1054100">
                  <a:moveTo>
                    <a:pt x="0" y="351155"/>
                  </a:moveTo>
                  <a:lnTo>
                    <a:pt x="3205" y="303507"/>
                  </a:lnTo>
                  <a:lnTo>
                    <a:pt x="12543" y="257807"/>
                  </a:lnTo>
                  <a:lnTo>
                    <a:pt x="27594" y="214473"/>
                  </a:lnTo>
                  <a:lnTo>
                    <a:pt x="47941" y="173924"/>
                  </a:lnTo>
                  <a:lnTo>
                    <a:pt x="73164" y="136578"/>
                  </a:lnTo>
                  <a:lnTo>
                    <a:pt x="102846" y="102854"/>
                  </a:lnTo>
                  <a:lnTo>
                    <a:pt x="136567" y="73170"/>
                  </a:lnTo>
                  <a:lnTo>
                    <a:pt x="173910" y="47944"/>
                  </a:lnTo>
                  <a:lnTo>
                    <a:pt x="214457" y="27596"/>
                  </a:lnTo>
                  <a:lnTo>
                    <a:pt x="257787" y="12544"/>
                  </a:lnTo>
                  <a:lnTo>
                    <a:pt x="303484" y="3205"/>
                  </a:lnTo>
                  <a:lnTo>
                    <a:pt x="351129" y="0"/>
                  </a:lnTo>
                  <a:lnTo>
                    <a:pt x="398777" y="3205"/>
                  </a:lnTo>
                  <a:lnTo>
                    <a:pt x="444479" y="12544"/>
                  </a:lnTo>
                  <a:lnTo>
                    <a:pt x="487815" y="27596"/>
                  </a:lnTo>
                  <a:lnTo>
                    <a:pt x="528367" y="47944"/>
                  </a:lnTo>
                  <a:lnTo>
                    <a:pt x="565715" y="73170"/>
                  </a:lnTo>
                  <a:lnTo>
                    <a:pt x="599443" y="102854"/>
                  </a:lnTo>
                  <a:lnTo>
                    <a:pt x="629130" y="136578"/>
                  </a:lnTo>
                  <a:lnTo>
                    <a:pt x="654358" y="173924"/>
                  </a:lnTo>
                  <a:lnTo>
                    <a:pt x="674709" y="214473"/>
                  </a:lnTo>
                  <a:lnTo>
                    <a:pt x="689763" y="257807"/>
                  </a:lnTo>
                  <a:lnTo>
                    <a:pt x="699103" y="303507"/>
                  </a:lnTo>
                  <a:lnTo>
                    <a:pt x="702310" y="351155"/>
                  </a:lnTo>
                  <a:lnTo>
                    <a:pt x="702310" y="702437"/>
                  </a:lnTo>
                  <a:lnTo>
                    <a:pt x="699103" y="750084"/>
                  </a:lnTo>
                  <a:lnTo>
                    <a:pt x="689763" y="795784"/>
                  </a:lnTo>
                  <a:lnTo>
                    <a:pt x="674709" y="839118"/>
                  </a:lnTo>
                  <a:lnTo>
                    <a:pt x="654358" y="879667"/>
                  </a:lnTo>
                  <a:lnTo>
                    <a:pt x="629130" y="917013"/>
                  </a:lnTo>
                  <a:lnTo>
                    <a:pt x="599443" y="950737"/>
                  </a:lnTo>
                  <a:lnTo>
                    <a:pt x="565715" y="980421"/>
                  </a:lnTo>
                  <a:lnTo>
                    <a:pt x="528367" y="1005647"/>
                  </a:lnTo>
                  <a:lnTo>
                    <a:pt x="487815" y="1025995"/>
                  </a:lnTo>
                  <a:lnTo>
                    <a:pt x="444479" y="1041047"/>
                  </a:lnTo>
                  <a:lnTo>
                    <a:pt x="398777" y="1050386"/>
                  </a:lnTo>
                  <a:lnTo>
                    <a:pt x="351129" y="1053592"/>
                  </a:lnTo>
                  <a:lnTo>
                    <a:pt x="303484" y="1050386"/>
                  </a:lnTo>
                  <a:lnTo>
                    <a:pt x="257787" y="1041047"/>
                  </a:lnTo>
                  <a:lnTo>
                    <a:pt x="214457" y="1025995"/>
                  </a:lnTo>
                  <a:lnTo>
                    <a:pt x="173910" y="1005647"/>
                  </a:lnTo>
                  <a:lnTo>
                    <a:pt x="136567" y="980421"/>
                  </a:lnTo>
                  <a:lnTo>
                    <a:pt x="102846" y="950737"/>
                  </a:lnTo>
                  <a:lnTo>
                    <a:pt x="73164" y="917013"/>
                  </a:lnTo>
                  <a:lnTo>
                    <a:pt x="47941" y="879667"/>
                  </a:lnTo>
                  <a:lnTo>
                    <a:pt x="27594" y="839118"/>
                  </a:lnTo>
                  <a:lnTo>
                    <a:pt x="12543" y="795784"/>
                  </a:lnTo>
                  <a:lnTo>
                    <a:pt x="3205" y="750084"/>
                  </a:lnTo>
                  <a:lnTo>
                    <a:pt x="0" y="702437"/>
                  </a:lnTo>
                  <a:lnTo>
                    <a:pt x="0" y="351155"/>
                  </a:lnTo>
                  <a:close/>
                </a:path>
              </a:pathLst>
            </a:custGeom>
            <a:ln w="7620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7445" y="6140068"/>
              <a:ext cx="111175" cy="167131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preencoded.pn</a:t>
            </a:r>
            <a:r>
              <a:rPr dirty="0" spc="75"/>
              <a:t> </a:t>
            </a:r>
            <a:r>
              <a:rPr dirty="0" spc="-50"/>
              <a:t>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3080" y="196342"/>
            <a:ext cx="6370955" cy="942975"/>
          </a:xfrm>
          <a:prstGeom prst="rect"/>
        </p:spPr>
        <p:txBody>
          <a:bodyPr wrap="square" lIns="0" tIns="21082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660"/>
              </a:spcBef>
            </a:pPr>
            <a:r>
              <a:rPr dirty="0" sz="3000" spc="-10"/>
              <a:t>Classification</a:t>
            </a:r>
            <a:r>
              <a:rPr dirty="0" sz="3000" spc="-30"/>
              <a:t> </a:t>
            </a:r>
            <a:r>
              <a:rPr dirty="0" sz="3000"/>
              <a:t>Models:</a:t>
            </a:r>
            <a:r>
              <a:rPr dirty="0" sz="3000" spc="-25"/>
              <a:t> </a:t>
            </a:r>
            <a:r>
              <a:rPr dirty="0" sz="3000"/>
              <a:t>Movie</a:t>
            </a:r>
            <a:r>
              <a:rPr dirty="0" sz="3000" spc="-40"/>
              <a:t> </a:t>
            </a:r>
            <a:r>
              <a:rPr dirty="0" sz="3000"/>
              <a:t>vs.</a:t>
            </a:r>
            <a:r>
              <a:rPr dirty="0" sz="3000" spc="-30"/>
              <a:t> </a:t>
            </a:r>
            <a:r>
              <a:rPr dirty="0" sz="3000"/>
              <a:t>TV</a:t>
            </a:r>
            <a:r>
              <a:rPr dirty="0" sz="3000" spc="-25"/>
              <a:t> </a:t>
            </a:r>
            <a:r>
              <a:rPr dirty="0" sz="3000" spc="-20"/>
              <a:t>Show</a:t>
            </a:r>
            <a:endParaRPr sz="3000"/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>
                <a:solidFill>
                  <a:srgbClr val="3B3939"/>
                </a:solidFill>
              </a:rPr>
              <a:t>Three</a:t>
            </a:r>
            <a:r>
              <a:rPr dirty="0" sz="1200" spc="-35">
                <a:solidFill>
                  <a:srgbClr val="3B3939"/>
                </a:solidFill>
              </a:rPr>
              <a:t> </a:t>
            </a:r>
            <a:r>
              <a:rPr dirty="0" sz="1200" spc="-10">
                <a:solidFill>
                  <a:srgbClr val="3B3939"/>
                </a:solidFill>
              </a:rPr>
              <a:t>machine</a:t>
            </a:r>
            <a:r>
              <a:rPr dirty="0" sz="1200" spc="-40">
                <a:solidFill>
                  <a:srgbClr val="3B3939"/>
                </a:solidFill>
              </a:rPr>
              <a:t> </a:t>
            </a:r>
            <a:r>
              <a:rPr dirty="0" sz="1200">
                <a:solidFill>
                  <a:srgbClr val="3B3939"/>
                </a:solidFill>
              </a:rPr>
              <a:t>learning</a:t>
            </a:r>
            <a:r>
              <a:rPr dirty="0" sz="1200" spc="-45">
                <a:solidFill>
                  <a:srgbClr val="3B3939"/>
                </a:solidFill>
              </a:rPr>
              <a:t> </a:t>
            </a:r>
            <a:r>
              <a:rPr dirty="0" sz="1200">
                <a:solidFill>
                  <a:srgbClr val="3B3939"/>
                </a:solidFill>
              </a:rPr>
              <a:t>models</a:t>
            </a:r>
            <a:r>
              <a:rPr dirty="0" sz="1200" spc="-45">
                <a:solidFill>
                  <a:srgbClr val="3B3939"/>
                </a:solidFill>
              </a:rPr>
              <a:t> </a:t>
            </a:r>
            <a:r>
              <a:rPr dirty="0" sz="1200">
                <a:solidFill>
                  <a:srgbClr val="3B3939"/>
                </a:solidFill>
              </a:rPr>
              <a:t>were</a:t>
            </a:r>
            <a:r>
              <a:rPr dirty="0" sz="1200" spc="-30">
                <a:solidFill>
                  <a:srgbClr val="3B3939"/>
                </a:solidFill>
              </a:rPr>
              <a:t> </a:t>
            </a:r>
            <a:r>
              <a:rPr dirty="0" sz="1200">
                <a:solidFill>
                  <a:srgbClr val="3B3939"/>
                </a:solidFill>
              </a:rPr>
              <a:t>trained</a:t>
            </a:r>
            <a:r>
              <a:rPr dirty="0" sz="1200" spc="-40">
                <a:solidFill>
                  <a:srgbClr val="3B3939"/>
                </a:solidFill>
              </a:rPr>
              <a:t> </a:t>
            </a:r>
            <a:r>
              <a:rPr dirty="0" sz="1200">
                <a:solidFill>
                  <a:srgbClr val="3B3939"/>
                </a:solidFill>
              </a:rPr>
              <a:t>to</a:t>
            </a:r>
            <a:r>
              <a:rPr dirty="0" sz="1200" spc="-45">
                <a:solidFill>
                  <a:srgbClr val="3B3939"/>
                </a:solidFill>
              </a:rPr>
              <a:t> </a:t>
            </a:r>
            <a:r>
              <a:rPr dirty="0" sz="1200">
                <a:solidFill>
                  <a:srgbClr val="3B3939"/>
                </a:solidFill>
              </a:rPr>
              <a:t>predict</a:t>
            </a:r>
            <a:r>
              <a:rPr dirty="0" sz="1200" spc="-40">
                <a:solidFill>
                  <a:srgbClr val="3B3939"/>
                </a:solidFill>
              </a:rPr>
              <a:t> </a:t>
            </a:r>
            <a:r>
              <a:rPr dirty="0" sz="1200">
                <a:solidFill>
                  <a:srgbClr val="3B3939"/>
                </a:solidFill>
              </a:rPr>
              <a:t>content</a:t>
            </a:r>
            <a:r>
              <a:rPr dirty="0" sz="1200" spc="-40">
                <a:solidFill>
                  <a:srgbClr val="3B3939"/>
                </a:solidFill>
              </a:rPr>
              <a:t> </a:t>
            </a:r>
            <a:r>
              <a:rPr dirty="0" sz="1200" spc="-10">
                <a:solidFill>
                  <a:srgbClr val="3B3939"/>
                </a:solidFill>
              </a:rPr>
              <a:t>type:</a:t>
            </a:r>
            <a:endParaRPr sz="1200"/>
          </a:p>
        </p:txBody>
      </p:sp>
      <p:sp>
        <p:nvSpPr>
          <p:cNvPr id="3" name="object 3" descr=""/>
          <p:cNvSpPr txBox="1"/>
          <p:nvPr/>
        </p:nvSpPr>
        <p:spPr>
          <a:xfrm>
            <a:off x="688340" y="1906270"/>
            <a:ext cx="2595880" cy="603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3B3939"/>
                </a:solidFill>
                <a:latin typeface="Calibri"/>
                <a:cs typeface="Calibri"/>
              </a:rPr>
              <a:t>Logistic</a:t>
            </a:r>
            <a:r>
              <a:rPr dirty="0" sz="150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3B3939"/>
                </a:solidFill>
                <a:latin typeface="Calibri"/>
                <a:cs typeface="Calibri"/>
              </a:rPr>
              <a:t>Regression</a:t>
            </a:r>
            <a:endParaRPr sz="15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1310"/>
              </a:spcBef>
            </a:pP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A</a:t>
            </a:r>
            <a:r>
              <a:rPr dirty="0" sz="120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baseline</a:t>
            </a:r>
            <a:r>
              <a:rPr dirty="0" sz="12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model</a:t>
            </a:r>
            <a:r>
              <a:rPr dirty="0" sz="120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for</a:t>
            </a:r>
            <a:r>
              <a:rPr dirty="0" sz="12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binary</a:t>
            </a:r>
            <a:r>
              <a:rPr dirty="0" sz="120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B3939"/>
                </a:solidFill>
                <a:latin typeface="Calibri"/>
                <a:cs typeface="Calibri"/>
              </a:rPr>
              <a:t>classification.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88340" y="3482466"/>
            <a:ext cx="2510790" cy="601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3B3939"/>
                </a:solidFill>
                <a:latin typeface="Calibri"/>
                <a:cs typeface="Calibri"/>
              </a:rPr>
              <a:t>Random</a:t>
            </a:r>
            <a:r>
              <a:rPr dirty="0" sz="1500" spc="-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3B3939"/>
                </a:solidFill>
                <a:latin typeface="Calibri"/>
                <a:cs typeface="Calibri"/>
              </a:rPr>
              <a:t>Forest</a:t>
            </a:r>
            <a:endParaRPr sz="15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1295"/>
              </a:spcBef>
            </a:pP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Ensemble</a:t>
            </a:r>
            <a:r>
              <a:rPr dirty="0" sz="120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method</a:t>
            </a:r>
            <a:r>
              <a:rPr dirty="0" sz="120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for</a:t>
            </a:r>
            <a:r>
              <a:rPr dirty="0" sz="120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robust</a:t>
            </a:r>
            <a:r>
              <a:rPr dirty="0" sz="120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B3939"/>
                </a:solidFill>
                <a:latin typeface="Calibri"/>
                <a:cs typeface="Calibri"/>
              </a:rPr>
              <a:t>prediction.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88340" y="5057013"/>
            <a:ext cx="2336165" cy="601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3B3939"/>
                </a:solidFill>
                <a:latin typeface="Calibri"/>
                <a:cs typeface="Calibri"/>
              </a:rPr>
              <a:t>Gradient</a:t>
            </a:r>
            <a:r>
              <a:rPr dirty="0" sz="1500" spc="-1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3B3939"/>
                </a:solidFill>
                <a:latin typeface="Calibri"/>
                <a:cs typeface="Calibri"/>
              </a:rPr>
              <a:t>Boosting</a:t>
            </a:r>
            <a:endParaRPr sz="15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1295"/>
              </a:spcBef>
            </a:pP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Powerful</a:t>
            </a:r>
            <a:r>
              <a:rPr dirty="0" sz="120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algorithm</a:t>
            </a:r>
            <a:r>
              <a:rPr dirty="0" sz="120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for</a:t>
            </a:r>
            <a:r>
              <a:rPr dirty="0" sz="120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high</a:t>
            </a:r>
            <a:r>
              <a:rPr dirty="0" sz="120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B3939"/>
                </a:solidFill>
                <a:latin typeface="Calibri"/>
                <a:cs typeface="Calibri"/>
              </a:rPr>
              <a:t>accuracy.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13080" y="6316217"/>
            <a:ext cx="6276340" cy="510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500"/>
              </a:lnSpc>
              <a:spcBef>
                <a:spcPts val="100"/>
              </a:spcBef>
            </a:pPr>
            <a:r>
              <a:rPr dirty="0" sz="1200" spc="-10">
                <a:solidFill>
                  <a:srgbClr val="3B3939"/>
                </a:solidFill>
                <a:latin typeface="Calibri"/>
                <a:cs typeface="Calibri"/>
              </a:rPr>
              <a:t>Evaluation</a:t>
            </a:r>
            <a:r>
              <a:rPr dirty="0" sz="12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B3939"/>
                </a:solidFill>
                <a:latin typeface="Calibri"/>
                <a:cs typeface="Calibri"/>
              </a:rPr>
              <a:t>Metrics:</a:t>
            </a:r>
            <a:r>
              <a:rPr dirty="0" sz="1200" spc="-2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B3939"/>
                </a:solidFill>
                <a:latin typeface="Calibri"/>
                <a:cs typeface="Calibri"/>
              </a:rPr>
              <a:t>Accuracy,</a:t>
            </a:r>
            <a:r>
              <a:rPr dirty="0" sz="120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B3939"/>
                </a:solidFill>
                <a:latin typeface="Calibri"/>
                <a:cs typeface="Calibri"/>
              </a:rPr>
              <a:t>Precision,</a:t>
            </a:r>
            <a:r>
              <a:rPr dirty="0" sz="120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Recall,</a:t>
            </a:r>
            <a:r>
              <a:rPr dirty="0" sz="1200" spc="-2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and</a:t>
            </a:r>
            <a:r>
              <a:rPr dirty="0" sz="1200" spc="-2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F1</a:t>
            </a:r>
            <a:r>
              <a:rPr dirty="0" sz="12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Score</a:t>
            </a:r>
            <a:r>
              <a:rPr dirty="0" sz="120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were</a:t>
            </a:r>
            <a:r>
              <a:rPr dirty="0" sz="12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used</a:t>
            </a:r>
            <a:r>
              <a:rPr dirty="0" sz="12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to</a:t>
            </a:r>
            <a:r>
              <a:rPr dirty="0" sz="120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assess</a:t>
            </a:r>
            <a:r>
              <a:rPr dirty="0" sz="120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model</a:t>
            </a:r>
            <a:r>
              <a:rPr dirty="0" sz="120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B3939"/>
                </a:solidFill>
                <a:latin typeface="Calibri"/>
                <a:cs typeface="Calibri"/>
              </a:rPr>
              <a:t>performance.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model</a:t>
            </a:r>
            <a:r>
              <a:rPr dirty="0" sz="120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with</a:t>
            </a:r>
            <a:r>
              <a:rPr dirty="0" sz="120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the</a:t>
            </a:r>
            <a:r>
              <a:rPr dirty="0" sz="120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highest</a:t>
            </a:r>
            <a:r>
              <a:rPr dirty="0" sz="120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F1</a:t>
            </a:r>
            <a:r>
              <a:rPr dirty="0" sz="120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Score</a:t>
            </a:r>
            <a:r>
              <a:rPr dirty="0" sz="120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was</a:t>
            </a:r>
            <a:r>
              <a:rPr dirty="0" sz="12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selected</a:t>
            </a:r>
            <a:r>
              <a:rPr dirty="0" sz="12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B3939"/>
                </a:solidFill>
                <a:latin typeface="Calibri"/>
                <a:cs typeface="Calibri"/>
              </a:rPr>
              <a:t>as</a:t>
            </a:r>
            <a:r>
              <a:rPr dirty="0" sz="12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B3939"/>
                </a:solidFill>
                <a:latin typeface="Calibri"/>
                <a:cs typeface="Calibri"/>
              </a:rPr>
              <a:t>optimal.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140" y="882269"/>
            <a:ext cx="5690522" cy="5322854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534669" y="1469644"/>
            <a:ext cx="6593840" cy="457834"/>
            <a:chOff x="534669" y="1469644"/>
            <a:chExt cx="6593840" cy="457834"/>
          </a:xfrm>
        </p:grpSpPr>
        <p:sp>
          <p:nvSpPr>
            <p:cNvPr id="9" name="object 9" descr=""/>
            <p:cNvSpPr/>
            <p:nvPr/>
          </p:nvSpPr>
          <p:spPr>
            <a:xfrm>
              <a:off x="534670" y="1469643"/>
              <a:ext cx="6593840" cy="457834"/>
            </a:xfrm>
            <a:custGeom>
              <a:avLst/>
              <a:gdLst/>
              <a:ahLst/>
              <a:cxnLst/>
              <a:rect l="l" t="t" r="r" b="b"/>
              <a:pathLst>
                <a:path w="6593840" h="457835">
                  <a:moveTo>
                    <a:pt x="6593840" y="251714"/>
                  </a:moveTo>
                  <a:lnTo>
                    <a:pt x="6590246" y="233984"/>
                  </a:lnTo>
                  <a:lnTo>
                    <a:pt x="6580454" y="219494"/>
                  </a:lnTo>
                  <a:lnTo>
                    <a:pt x="6565925" y="209715"/>
                  </a:lnTo>
                  <a:lnTo>
                    <a:pt x="6548120" y="206133"/>
                  </a:lnTo>
                  <a:lnTo>
                    <a:pt x="3523716" y="206133"/>
                  </a:lnTo>
                  <a:lnTo>
                    <a:pt x="3521367" y="182829"/>
                  </a:lnTo>
                  <a:lnTo>
                    <a:pt x="3508006" y="139839"/>
                  </a:lnTo>
                  <a:lnTo>
                    <a:pt x="3486886" y="100952"/>
                  </a:lnTo>
                  <a:lnTo>
                    <a:pt x="3458908" y="67056"/>
                  </a:lnTo>
                  <a:lnTo>
                    <a:pt x="3424986" y="39103"/>
                  </a:lnTo>
                  <a:lnTo>
                    <a:pt x="3386074" y="17995"/>
                  </a:lnTo>
                  <a:lnTo>
                    <a:pt x="3343071" y="4660"/>
                  </a:lnTo>
                  <a:lnTo>
                    <a:pt x="3296920" y="0"/>
                  </a:lnTo>
                  <a:lnTo>
                    <a:pt x="3250704" y="4660"/>
                  </a:lnTo>
                  <a:lnTo>
                    <a:pt x="3207677" y="17995"/>
                  </a:lnTo>
                  <a:lnTo>
                    <a:pt x="3168739" y="39103"/>
                  </a:lnTo>
                  <a:lnTo>
                    <a:pt x="3134817" y="67056"/>
                  </a:lnTo>
                  <a:lnTo>
                    <a:pt x="3106826" y="100952"/>
                  </a:lnTo>
                  <a:lnTo>
                    <a:pt x="3085693" y="139839"/>
                  </a:lnTo>
                  <a:lnTo>
                    <a:pt x="3072333" y="182829"/>
                  </a:lnTo>
                  <a:lnTo>
                    <a:pt x="3069983" y="206133"/>
                  </a:lnTo>
                  <a:lnTo>
                    <a:pt x="45720" y="206133"/>
                  </a:lnTo>
                  <a:lnTo>
                    <a:pt x="27914" y="209715"/>
                  </a:lnTo>
                  <a:lnTo>
                    <a:pt x="13385" y="219494"/>
                  </a:lnTo>
                  <a:lnTo>
                    <a:pt x="3581" y="233984"/>
                  </a:lnTo>
                  <a:lnTo>
                    <a:pt x="0" y="251714"/>
                  </a:lnTo>
                  <a:lnTo>
                    <a:pt x="3581" y="269532"/>
                  </a:lnTo>
                  <a:lnTo>
                    <a:pt x="13385" y="284060"/>
                  </a:lnTo>
                  <a:lnTo>
                    <a:pt x="27914" y="293852"/>
                  </a:lnTo>
                  <a:lnTo>
                    <a:pt x="45720" y="297434"/>
                  </a:lnTo>
                  <a:lnTo>
                    <a:pt x="3079254" y="297434"/>
                  </a:lnTo>
                  <a:lnTo>
                    <a:pt x="3085693" y="318109"/>
                  </a:lnTo>
                  <a:lnTo>
                    <a:pt x="3106826" y="356984"/>
                  </a:lnTo>
                  <a:lnTo>
                    <a:pt x="3134817" y="390842"/>
                  </a:lnTo>
                  <a:lnTo>
                    <a:pt x="3168739" y="418782"/>
                  </a:lnTo>
                  <a:lnTo>
                    <a:pt x="3207677" y="439864"/>
                  </a:lnTo>
                  <a:lnTo>
                    <a:pt x="3250704" y="453199"/>
                  </a:lnTo>
                  <a:lnTo>
                    <a:pt x="3296920" y="457835"/>
                  </a:lnTo>
                  <a:lnTo>
                    <a:pt x="3343071" y="453199"/>
                  </a:lnTo>
                  <a:lnTo>
                    <a:pt x="3386074" y="439864"/>
                  </a:lnTo>
                  <a:lnTo>
                    <a:pt x="3424986" y="418782"/>
                  </a:lnTo>
                  <a:lnTo>
                    <a:pt x="3458908" y="390842"/>
                  </a:lnTo>
                  <a:lnTo>
                    <a:pt x="3486886" y="356984"/>
                  </a:lnTo>
                  <a:lnTo>
                    <a:pt x="3508006" y="318109"/>
                  </a:lnTo>
                  <a:lnTo>
                    <a:pt x="3514433" y="297434"/>
                  </a:lnTo>
                  <a:lnTo>
                    <a:pt x="6548120" y="297434"/>
                  </a:lnTo>
                  <a:lnTo>
                    <a:pt x="6565925" y="293852"/>
                  </a:lnTo>
                  <a:lnTo>
                    <a:pt x="6580454" y="284060"/>
                  </a:lnTo>
                  <a:lnTo>
                    <a:pt x="6590246" y="269532"/>
                  </a:lnTo>
                  <a:lnTo>
                    <a:pt x="6593840" y="251714"/>
                  </a:lnTo>
                  <a:close/>
                </a:path>
              </a:pathLst>
            </a:custGeom>
            <a:solidFill>
              <a:srgbClr val="1B1B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752596" y="1691005"/>
              <a:ext cx="55244" cy="113664"/>
            </a:xfrm>
            <a:custGeom>
              <a:avLst/>
              <a:gdLst/>
              <a:ahLst/>
              <a:cxnLst/>
              <a:rect l="l" t="t" r="r" b="b"/>
              <a:pathLst>
                <a:path w="55245" h="113664">
                  <a:moveTo>
                    <a:pt x="26669" y="0"/>
                  </a:moveTo>
                  <a:lnTo>
                    <a:pt x="24383" y="635"/>
                  </a:lnTo>
                  <a:lnTo>
                    <a:pt x="2158" y="17652"/>
                  </a:lnTo>
                  <a:lnTo>
                    <a:pt x="762" y="19050"/>
                  </a:lnTo>
                  <a:lnTo>
                    <a:pt x="0" y="25526"/>
                  </a:lnTo>
                  <a:lnTo>
                    <a:pt x="507" y="28955"/>
                  </a:lnTo>
                  <a:lnTo>
                    <a:pt x="1650" y="29845"/>
                  </a:lnTo>
                  <a:lnTo>
                    <a:pt x="3555" y="29337"/>
                  </a:lnTo>
                  <a:lnTo>
                    <a:pt x="22732" y="15748"/>
                  </a:lnTo>
                  <a:lnTo>
                    <a:pt x="22732" y="101346"/>
                  </a:lnTo>
                  <a:lnTo>
                    <a:pt x="2666" y="101346"/>
                  </a:lnTo>
                  <a:lnTo>
                    <a:pt x="1904" y="101727"/>
                  </a:lnTo>
                  <a:lnTo>
                    <a:pt x="888" y="103378"/>
                  </a:lnTo>
                  <a:lnTo>
                    <a:pt x="380" y="108585"/>
                  </a:lnTo>
                  <a:lnTo>
                    <a:pt x="762" y="110998"/>
                  </a:lnTo>
                  <a:lnTo>
                    <a:pt x="1777" y="112903"/>
                  </a:lnTo>
                  <a:lnTo>
                    <a:pt x="2666" y="113411"/>
                  </a:lnTo>
                  <a:lnTo>
                    <a:pt x="52450" y="113411"/>
                  </a:lnTo>
                  <a:lnTo>
                    <a:pt x="53466" y="113157"/>
                  </a:lnTo>
                  <a:lnTo>
                    <a:pt x="54101" y="112522"/>
                  </a:lnTo>
                  <a:lnTo>
                    <a:pt x="54737" y="110998"/>
                  </a:lnTo>
                  <a:lnTo>
                    <a:pt x="55117" y="107442"/>
                  </a:lnTo>
                  <a:lnTo>
                    <a:pt x="55117" y="106425"/>
                  </a:lnTo>
                  <a:lnTo>
                    <a:pt x="54609" y="103378"/>
                  </a:lnTo>
                  <a:lnTo>
                    <a:pt x="53593" y="101727"/>
                  </a:lnTo>
                  <a:lnTo>
                    <a:pt x="52831" y="101346"/>
                  </a:lnTo>
                  <a:lnTo>
                    <a:pt x="35305" y="101346"/>
                  </a:lnTo>
                  <a:lnTo>
                    <a:pt x="35305" y="1777"/>
                  </a:lnTo>
                  <a:lnTo>
                    <a:pt x="34670" y="762"/>
                  </a:lnTo>
                  <a:lnTo>
                    <a:pt x="33781" y="380"/>
                  </a:lnTo>
                  <a:lnTo>
                    <a:pt x="26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534669" y="3045079"/>
            <a:ext cx="6593840" cy="457834"/>
            <a:chOff x="534669" y="3045079"/>
            <a:chExt cx="6593840" cy="457834"/>
          </a:xfrm>
        </p:grpSpPr>
        <p:sp>
          <p:nvSpPr>
            <p:cNvPr id="12" name="object 12" descr=""/>
            <p:cNvSpPr/>
            <p:nvPr/>
          </p:nvSpPr>
          <p:spPr>
            <a:xfrm>
              <a:off x="534670" y="3045078"/>
              <a:ext cx="6593840" cy="457834"/>
            </a:xfrm>
            <a:custGeom>
              <a:avLst/>
              <a:gdLst/>
              <a:ahLst/>
              <a:cxnLst/>
              <a:rect l="l" t="t" r="r" b="b"/>
              <a:pathLst>
                <a:path w="6593840" h="457835">
                  <a:moveTo>
                    <a:pt x="6593840" y="251714"/>
                  </a:moveTo>
                  <a:lnTo>
                    <a:pt x="6590246" y="233908"/>
                  </a:lnTo>
                  <a:lnTo>
                    <a:pt x="6580454" y="219379"/>
                  </a:lnTo>
                  <a:lnTo>
                    <a:pt x="6565925" y="209588"/>
                  </a:lnTo>
                  <a:lnTo>
                    <a:pt x="6548120" y="205994"/>
                  </a:lnTo>
                  <a:lnTo>
                    <a:pt x="3523716" y="205994"/>
                  </a:lnTo>
                  <a:lnTo>
                    <a:pt x="3521367" y="182740"/>
                  </a:lnTo>
                  <a:lnTo>
                    <a:pt x="3508006" y="139788"/>
                  </a:lnTo>
                  <a:lnTo>
                    <a:pt x="3486886" y="100914"/>
                  </a:lnTo>
                  <a:lnTo>
                    <a:pt x="3458908" y="67043"/>
                  </a:lnTo>
                  <a:lnTo>
                    <a:pt x="3424986" y="39103"/>
                  </a:lnTo>
                  <a:lnTo>
                    <a:pt x="3386074" y="17995"/>
                  </a:lnTo>
                  <a:lnTo>
                    <a:pt x="3343071" y="4660"/>
                  </a:lnTo>
                  <a:lnTo>
                    <a:pt x="3296920" y="0"/>
                  </a:lnTo>
                  <a:lnTo>
                    <a:pt x="3250704" y="4660"/>
                  </a:lnTo>
                  <a:lnTo>
                    <a:pt x="3207677" y="17995"/>
                  </a:lnTo>
                  <a:lnTo>
                    <a:pt x="3168739" y="39103"/>
                  </a:lnTo>
                  <a:lnTo>
                    <a:pt x="3134817" y="67043"/>
                  </a:lnTo>
                  <a:lnTo>
                    <a:pt x="3106826" y="100914"/>
                  </a:lnTo>
                  <a:lnTo>
                    <a:pt x="3085693" y="139788"/>
                  </a:lnTo>
                  <a:lnTo>
                    <a:pt x="3072333" y="182740"/>
                  </a:lnTo>
                  <a:lnTo>
                    <a:pt x="3069983" y="205994"/>
                  </a:lnTo>
                  <a:lnTo>
                    <a:pt x="45720" y="205994"/>
                  </a:lnTo>
                  <a:lnTo>
                    <a:pt x="27914" y="209588"/>
                  </a:lnTo>
                  <a:lnTo>
                    <a:pt x="13385" y="219379"/>
                  </a:lnTo>
                  <a:lnTo>
                    <a:pt x="3581" y="233908"/>
                  </a:lnTo>
                  <a:lnTo>
                    <a:pt x="0" y="251714"/>
                  </a:lnTo>
                  <a:lnTo>
                    <a:pt x="3581" y="269506"/>
                  </a:lnTo>
                  <a:lnTo>
                    <a:pt x="13385" y="283997"/>
                  </a:lnTo>
                  <a:lnTo>
                    <a:pt x="27914" y="293738"/>
                  </a:lnTo>
                  <a:lnTo>
                    <a:pt x="45720" y="297307"/>
                  </a:lnTo>
                  <a:lnTo>
                    <a:pt x="3079254" y="297307"/>
                  </a:lnTo>
                  <a:lnTo>
                    <a:pt x="3085693" y="318008"/>
                  </a:lnTo>
                  <a:lnTo>
                    <a:pt x="3106826" y="356895"/>
                  </a:lnTo>
                  <a:lnTo>
                    <a:pt x="3134817" y="390779"/>
                  </a:lnTo>
                  <a:lnTo>
                    <a:pt x="3168739" y="418744"/>
                  </a:lnTo>
                  <a:lnTo>
                    <a:pt x="3207677" y="439851"/>
                  </a:lnTo>
                  <a:lnTo>
                    <a:pt x="3250704" y="453186"/>
                  </a:lnTo>
                  <a:lnTo>
                    <a:pt x="3296920" y="457835"/>
                  </a:lnTo>
                  <a:lnTo>
                    <a:pt x="3343071" y="453186"/>
                  </a:lnTo>
                  <a:lnTo>
                    <a:pt x="3386074" y="439851"/>
                  </a:lnTo>
                  <a:lnTo>
                    <a:pt x="3424986" y="418744"/>
                  </a:lnTo>
                  <a:lnTo>
                    <a:pt x="3458908" y="390779"/>
                  </a:lnTo>
                  <a:lnTo>
                    <a:pt x="3486886" y="356895"/>
                  </a:lnTo>
                  <a:lnTo>
                    <a:pt x="3508006" y="318008"/>
                  </a:lnTo>
                  <a:lnTo>
                    <a:pt x="3514433" y="297307"/>
                  </a:lnTo>
                  <a:lnTo>
                    <a:pt x="6548120" y="297307"/>
                  </a:lnTo>
                  <a:lnTo>
                    <a:pt x="6565925" y="293738"/>
                  </a:lnTo>
                  <a:lnTo>
                    <a:pt x="6580454" y="283997"/>
                  </a:lnTo>
                  <a:lnTo>
                    <a:pt x="6590246" y="269506"/>
                  </a:lnTo>
                  <a:lnTo>
                    <a:pt x="6593840" y="251714"/>
                  </a:lnTo>
                  <a:close/>
                </a:path>
              </a:pathLst>
            </a:custGeom>
            <a:solidFill>
              <a:srgbClr val="1B1B2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0055" y="3265932"/>
              <a:ext cx="71882" cy="114300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534669" y="4619878"/>
            <a:ext cx="6593840" cy="457834"/>
            <a:chOff x="534669" y="4619878"/>
            <a:chExt cx="6593840" cy="457834"/>
          </a:xfrm>
        </p:grpSpPr>
        <p:sp>
          <p:nvSpPr>
            <p:cNvPr id="15" name="object 15" descr=""/>
            <p:cNvSpPr/>
            <p:nvPr/>
          </p:nvSpPr>
          <p:spPr>
            <a:xfrm>
              <a:off x="534670" y="4619878"/>
              <a:ext cx="6593840" cy="457834"/>
            </a:xfrm>
            <a:custGeom>
              <a:avLst/>
              <a:gdLst/>
              <a:ahLst/>
              <a:cxnLst/>
              <a:rect l="l" t="t" r="r" b="b"/>
              <a:pathLst>
                <a:path w="6593840" h="457835">
                  <a:moveTo>
                    <a:pt x="6593840" y="251714"/>
                  </a:moveTo>
                  <a:lnTo>
                    <a:pt x="6590246" y="233908"/>
                  </a:lnTo>
                  <a:lnTo>
                    <a:pt x="6580454" y="219379"/>
                  </a:lnTo>
                  <a:lnTo>
                    <a:pt x="6565925" y="209588"/>
                  </a:lnTo>
                  <a:lnTo>
                    <a:pt x="6548120" y="205994"/>
                  </a:lnTo>
                  <a:lnTo>
                    <a:pt x="3523704" y="205994"/>
                  </a:lnTo>
                  <a:lnTo>
                    <a:pt x="3521367" y="182829"/>
                  </a:lnTo>
                  <a:lnTo>
                    <a:pt x="3508006" y="139839"/>
                  </a:lnTo>
                  <a:lnTo>
                    <a:pt x="3486886" y="100952"/>
                  </a:lnTo>
                  <a:lnTo>
                    <a:pt x="3458908" y="67056"/>
                  </a:lnTo>
                  <a:lnTo>
                    <a:pt x="3424986" y="39103"/>
                  </a:lnTo>
                  <a:lnTo>
                    <a:pt x="3386074" y="17995"/>
                  </a:lnTo>
                  <a:lnTo>
                    <a:pt x="3343071" y="4660"/>
                  </a:lnTo>
                  <a:lnTo>
                    <a:pt x="3296920" y="0"/>
                  </a:lnTo>
                  <a:lnTo>
                    <a:pt x="3250704" y="4660"/>
                  </a:lnTo>
                  <a:lnTo>
                    <a:pt x="3207677" y="17995"/>
                  </a:lnTo>
                  <a:lnTo>
                    <a:pt x="3168739" y="39103"/>
                  </a:lnTo>
                  <a:lnTo>
                    <a:pt x="3134817" y="67056"/>
                  </a:lnTo>
                  <a:lnTo>
                    <a:pt x="3106826" y="100952"/>
                  </a:lnTo>
                  <a:lnTo>
                    <a:pt x="3085693" y="139839"/>
                  </a:lnTo>
                  <a:lnTo>
                    <a:pt x="3072333" y="182829"/>
                  </a:lnTo>
                  <a:lnTo>
                    <a:pt x="3069996" y="205994"/>
                  </a:lnTo>
                  <a:lnTo>
                    <a:pt x="45720" y="205994"/>
                  </a:lnTo>
                  <a:lnTo>
                    <a:pt x="27914" y="209588"/>
                  </a:lnTo>
                  <a:lnTo>
                    <a:pt x="13385" y="219379"/>
                  </a:lnTo>
                  <a:lnTo>
                    <a:pt x="3581" y="233908"/>
                  </a:lnTo>
                  <a:lnTo>
                    <a:pt x="0" y="251714"/>
                  </a:lnTo>
                  <a:lnTo>
                    <a:pt x="3581" y="269506"/>
                  </a:lnTo>
                  <a:lnTo>
                    <a:pt x="13385" y="283997"/>
                  </a:lnTo>
                  <a:lnTo>
                    <a:pt x="27914" y="293738"/>
                  </a:lnTo>
                  <a:lnTo>
                    <a:pt x="45720" y="297307"/>
                  </a:lnTo>
                  <a:lnTo>
                    <a:pt x="3079229" y="297307"/>
                  </a:lnTo>
                  <a:lnTo>
                    <a:pt x="3085693" y="318058"/>
                  </a:lnTo>
                  <a:lnTo>
                    <a:pt x="3106826" y="356933"/>
                  </a:lnTo>
                  <a:lnTo>
                    <a:pt x="3134817" y="390804"/>
                  </a:lnTo>
                  <a:lnTo>
                    <a:pt x="3168739" y="418744"/>
                  </a:lnTo>
                  <a:lnTo>
                    <a:pt x="3207677" y="439851"/>
                  </a:lnTo>
                  <a:lnTo>
                    <a:pt x="3250704" y="453186"/>
                  </a:lnTo>
                  <a:lnTo>
                    <a:pt x="3296920" y="457835"/>
                  </a:lnTo>
                  <a:lnTo>
                    <a:pt x="3343071" y="453186"/>
                  </a:lnTo>
                  <a:lnTo>
                    <a:pt x="3386074" y="439851"/>
                  </a:lnTo>
                  <a:lnTo>
                    <a:pt x="3424986" y="418744"/>
                  </a:lnTo>
                  <a:lnTo>
                    <a:pt x="3458908" y="390804"/>
                  </a:lnTo>
                  <a:lnTo>
                    <a:pt x="3486886" y="356933"/>
                  </a:lnTo>
                  <a:lnTo>
                    <a:pt x="3508006" y="318058"/>
                  </a:lnTo>
                  <a:lnTo>
                    <a:pt x="3514458" y="297307"/>
                  </a:lnTo>
                  <a:lnTo>
                    <a:pt x="6548120" y="297307"/>
                  </a:lnTo>
                  <a:lnTo>
                    <a:pt x="6565925" y="293738"/>
                  </a:lnTo>
                  <a:lnTo>
                    <a:pt x="6580454" y="283997"/>
                  </a:lnTo>
                  <a:lnTo>
                    <a:pt x="6590246" y="269506"/>
                  </a:lnTo>
                  <a:lnTo>
                    <a:pt x="6593840" y="251714"/>
                  </a:lnTo>
                  <a:close/>
                </a:path>
              </a:pathLst>
            </a:custGeom>
            <a:solidFill>
              <a:srgbClr val="1B1B2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49293" y="4841747"/>
              <a:ext cx="74167" cy="115950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preencoded.pn</a:t>
            </a:r>
            <a:r>
              <a:rPr dirty="0" spc="75"/>
              <a:t> </a:t>
            </a:r>
            <a:r>
              <a:rPr dirty="0" spc="-50"/>
              <a:t>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32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14"/>
              </a:spcBef>
            </a:pPr>
            <a:r>
              <a:rPr dirty="0"/>
              <a:t>Clustering</a:t>
            </a:r>
            <a:r>
              <a:rPr dirty="0" spc="-120"/>
              <a:t> </a:t>
            </a:r>
            <a:r>
              <a:rPr dirty="0"/>
              <a:t>Analysis:</a:t>
            </a:r>
            <a:r>
              <a:rPr dirty="0" spc="-120"/>
              <a:t> </a:t>
            </a:r>
            <a:r>
              <a:rPr dirty="0"/>
              <a:t>Discovering</a:t>
            </a:r>
            <a:r>
              <a:rPr dirty="0" spc="-135"/>
              <a:t> </a:t>
            </a:r>
            <a:r>
              <a:rPr dirty="0"/>
              <a:t>Content</a:t>
            </a:r>
            <a:r>
              <a:rPr dirty="0" spc="-114"/>
              <a:t> </a:t>
            </a:r>
            <a:r>
              <a:rPr dirty="0" spc="-10"/>
              <a:t>Groups</a:t>
            </a: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1400" spc="-20">
                <a:solidFill>
                  <a:srgbClr val="3B3939"/>
                </a:solidFill>
              </a:rPr>
              <a:t>K-</a:t>
            </a:r>
            <a:r>
              <a:rPr dirty="0" sz="1400">
                <a:solidFill>
                  <a:srgbClr val="3B3939"/>
                </a:solidFill>
              </a:rPr>
              <a:t>Means</a:t>
            </a:r>
            <a:r>
              <a:rPr dirty="0" sz="1400" spc="-35">
                <a:solidFill>
                  <a:srgbClr val="3B3939"/>
                </a:solidFill>
              </a:rPr>
              <a:t> </a:t>
            </a:r>
            <a:r>
              <a:rPr dirty="0" sz="1400" spc="-10">
                <a:solidFill>
                  <a:srgbClr val="3B3939"/>
                </a:solidFill>
              </a:rPr>
              <a:t>clustering</a:t>
            </a:r>
            <a:r>
              <a:rPr dirty="0" sz="1400" spc="-40">
                <a:solidFill>
                  <a:srgbClr val="3B3939"/>
                </a:solidFill>
              </a:rPr>
              <a:t> </a:t>
            </a:r>
            <a:r>
              <a:rPr dirty="0" sz="1400" spc="-10">
                <a:solidFill>
                  <a:srgbClr val="3B3939"/>
                </a:solidFill>
              </a:rPr>
              <a:t>applied</a:t>
            </a:r>
            <a:r>
              <a:rPr dirty="0" sz="1400" spc="-45">
                <a:solidFill>
                  <a:srgbClr val="3B3939"/>
                </a:solidFill>
              </a:rPr>
              <a:t> </a:t>
            </a:r>
            <a:r>
              <a:rPr dirty="0" sz="1400">
                <a:solidFill>
                  <a:srgbClr val="3B3939"/>
                </a:solidFill>
              </a:rPr>
              <a:t>to</a:t>
            </a:r>
            <a:r>
              <a:rPr dirty="0" sz="1400" spc="-30">
                <a:solidFill>
                  <a:srgbClr val="3B3939"/>
                </a:solidFill>
              </a:rPr>
              <a:t> </a:t>
            </a:r>
            <a:r>
              <a:rPr dirty="0" sz="1400" spc="-10">
                <a:solidFill>
                  <a:srgbClr val="3B3939"/>
                </a:solidFill>
              </a:rPr>
              <a:t>categorize</a:t>
            </a:r>
            <a:r>
              <a:rPr dirty="0" sz="1400" spc="-40">
                <a:solidFill>
                  <a:srgbClr val="3B3939"/>
                </a:solidFill>
              </a:rPr>
              <a:t> </a:t>
            </a:r>
            <a:r>
              <a:rPr dirty="0" sz="1400">
                <a:solidFill>
                  <a:srgbClr val="3B3939"/>
                </a:solidFill>
              </a:rPr>
              <a:t>similar</a:t>
            </a:r>
            <a:r>
              <a:rPr dirty="0" sz="1400" spc="-35">
                <a:solidFill>
                  <a:srgbClr val="3B3939"/>
                </a:solidFill>
              </a:rPr>
              <a:t> </a:t>
            </a:r>
            <a:r>
              <a:rPr dirty="0" sz="1400" spc="-10">
                <a:solidFill>
                  <a:srgbClr val="3B3939"/>
                </a:solidFill>
              </a:rPr>
              <a:t>Netflix</a:t>
            </a:r>
            <a:r>
              <a:rPr dirty="0" sz="1400" spc="-35">
                <a:solidFill>
                  <a:srgbClr val="3B3939"/>
                </a:solidFill>
              </a:rPr>
              <a:t> </a:t>
            </a:r>
            <a:r>
              <a:rPr dirty="0" sz="1400" spc="-10">
                <a:solidFill>
                  <a:srgbClr val="3B3939"/>
                </a:solidFill>
              </a:rPr>
              <a:t>titles.</a:t>
            </a:r>
            <a:endParaRPr sz="1400"/>
          </a:p>
        </p:txBody>
      </p:sp>
      <p:sp>
        <p:nvSpPr>
          <p:cNvPr id="3" name="object 3" descr=""/>
          <p:cNvSpPr txBox="1"/>
          <p:nvPr/>
        </p:nvSpPr>
        <p:spPr>
          <a:xfrm>
            <a:off x="869696" y="1702054"/>
            <a:ext cx="4978400" cy="3999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100"/>
              </a:spcBef>
            </a:pPr>
            <a:r>
              <a:rPr dirty="0" sz="1750" spc="-30">
                <a:solidFill>
                  <a:srgbClr val="3B3939"/>
                </a:solidFill>
                <a:latin typeface="Calibri"/>
                <a:cs typeface="Calibri"/>
              </a:rPr>
              <a:t>K-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Means</a:t>
            </a:r>
            <a:r>
              <a:rPr dirty="0" sz="175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Algorithm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Clustered</a:t>
            </a:r>
            <a:r>
              <a:rPr dirty="0" sz="140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TF-IDF</a:t>
            </a:r>
            <a:r>
              <a:rPr dirty="0" sz="14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vectors</a:t>
            </a:r>
            <a:r>
              <a:rPr dirty="0" sz="14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derived</a:t>
            </a:r>
            <a:r>
              <a:rPr dirty="0" sz="140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from</a:t>
            </a:r>
            <a:r>
              <a:rPr dirty="0" sz="140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content</a:t>
            </a:r>
            <a:r>
              <a:rPr dirty="0" sz="140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descriptions.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1400">
              <a:latin typeface="Calibri"/>
              <a:cs typeface="Calibri"/>
            </a:endParaRPr>
          </a:p>
          <a:p>
            <a:pPr marL="180340">
              <a:lnSpc>
                <a:spcPct val="100000"/>
              </a:lnSpc>
            </a:pP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Dimensionality</a:t>
            </a:r>
            <a:r>
              <a:rPr dirty="0" sz="1750" spc="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Reduction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z="1400" spc="-20">
                <a:solidFill>
                  <a:srgbClr val="3B3939"/>
                </a:solidFill>
                <a:latin typeface="Calibri"/>
                <a:cs typeface="Calibri"/>
              </a:rPr>
              <a:t>TruncatedSVD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used</a:t>
            </a:r>
            <a:r>
              <a:rPr dirty="0" sz="140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for</a:t>
            </a: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3B3939"/>
                </a:solidFill>
                <a:latin typeface="Calibri"/>
                <a:cs typeface="Calibri"/>
              </a:rPr>
              <a:t>effective </a:t>
            </a: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visualization</a:t>
            </a:r>
            <a:r>
              <a:rPr dirty="0" sz="1400" spc="-2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of</a:t>
            </a:r>
            <a:r>
              <a:rPr dirty="0" sz="1400" spc="-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clusters.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1400">
              <a:latin typeface="Calibri"/>
              <a:cs typeface="Calibri"/>
            </a:endParaRPr>
          </a:p>
          <a:p>
            <a:pPr marL="140335">
              <a:lnSpc>
                <a:spcPct val="100000"/>
              </a:lnSpc>
            </a:pP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Identified</a:t>
            </a:r>
            <a:r>
              <a:rPr dirty="0" sz="175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Clusters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Groups</a:t>
            </a:r>
            <a:r>
              <a:rPr dirty="0" sz="1400" spc="-2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emerged,</a:t>
            </a:r>
            <a:r>
              <a:rPr dirty="0" sz="14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such</a:t>
            </a:r>
            <a:r>
              <a:rPr dirty="0" sz="14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as</a:t>
            </a:r>
            <a:r>
              <a:rPr dirty="0" sz="1400" spc="-20">
                <a:solidFill>
                  <a:srgbClr val="3B3939"/>
                </a:solidFill>
                <a:latin typeface="Calibri"/>
                <a:cs typeface="Calibri"/>
              </a:rPr>
              <a:t> drama-</a:t>
            </a: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focused,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kids'</a:t>
            </a:r>
            <a:r>
              <a:rPr dirty="0" sz="1400" spc="-2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content,</a:t>
            </a:r>
            <a:r>
              <a:rPr dirty="0" sz="14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thrillers.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1400">
              <a:latin typeface="Calibri"/>
              <a:cs typeface="Calibri"/>
            </a:endParaRPr>
          </a:p>
          <a:p>
            <a:pPr marL="116205">
              <a:lnSpc>
                <a:spcPct val="100000"/>
              </a:lnSpc>
            </a:pP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Cluster</a:t>
            </a:r>
            <a:r>
              <a:rPr dirty="0" sz="175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Quality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Silhouette</a:t>
            </a:r>
            <a:r>
              <a:rPr dirty="0" sz="140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score</a:t>
            </a:r>
            <a:r>
              <a:rPr dirty="0" sz="140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determined</a:t>
            </a:r>
            <a:r>
              <a:rPr dirty="0" sz="140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cohesion</a:t>
            </a:r>
            <a:r>
              <a:rPr dirty="0" sz="140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and</a:t>
            </a:r>
            <a:r>
              <a:rPr dirty="0" sz="140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separation</a:t>
            </a:r>
            <a:r>
              <a:rPr dirty="0" sz="140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of</a:t>
            </a:r>
            <a:r>
              <a:rPr dirty="0" sz="14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clusters.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669" y="1847723"/>
            <a:ext cx="88900" cy="889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669" y="2947161"/>
            <a:ext cx="88900" cy="889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4669" y="4046728"/>
            <a:ext cx="88900" cy="889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4669" y="5146166"/>
            <a:ext cx="88900" cy="889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10500" y="1104391"/>
            <a:ext cx="6473825" cy="4872735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preencoded.pn</a:t>
            </a:r>
            <a:r>
              <a:rPr dirty="0" spc="75"/>
              <a:t> </a:t>
            </a:r>
            <a:r>
              <a:rPr dirty="0" spc="-50"/>
              <a:t>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904" y="1992972"/>
            <a:ext cx="7565390" cy="1157605"/>
          </a:xfrm>
          <a:prstGeom prst="rect"/>
        </p:spPr>
        <p:txBody>
          <a:bodyPr wrap="square" lIns="0" tIns="278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90"/>
              </a:spcBef>
            </a:pPr>
            <a:r>
              <a:rPr dirty="0" sz="3600" spc="-45"/>
              <a:t>Content-</a:t>
            </a:r>
            <a:r>
              <a:rPr dirty="0" sz="3600"/>
              <a:t>Based</a:t>
            </a:r>
            <a:r>
              <a:rPr dirty="0" sz="3600" spc="-60"/>
              <a:t> </a:t>
            </a:r>
            <a:r>
              <a:rPr dirty="0" sz="3600" spc="-10"/>
              <a:t>Recommendation</a:t>
            </a:r>
            <a:r>
              <a:rPr dirty="0" sz="3600" spc="-60"/>
              <a:t> </a:t>
            </a:r>
            <a:r>
              <a:rPr dirty="0" sz="3600" spc="-10"/>
              <a:t>System</a:t>
            </a:r>
            <a:endParaRPr sz="3600"/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400">
                <a:solidFill>
                  <a:srgbClr val="3B3939"/>
                </a:solidFill>
              </a:rPr>
              <a:t>A</a:t>
            </a:r>
            <a:r>
              <a:rPr dirty="0" sz="1400" spc="-25">
                <a:solidFill>
                  <a:srgbClr val="3B3939"/>
                </a:solidFill>
              </a:rPr>
              <a:t> </a:t>
            </a:r>
            <a:r>
              <a:rPr dirty="0" sz="1400" spc="-10">
                <a:solidFill>
                  <a:srgbClr val="3B3939"/>
                </a:solidFill>
              </a:rPr>
              <a:t>personalized</a:t>
            </a:r>
            <a:r>
              <a:rPr dirty="0" sz="1400" spc="-35">
                <a:solidFill>
                  <a:srgbClr val="3B3939"/>
                </a:solidFill>
              </a:rPr>
              <a:t> </a:t>
            </a:r>
            <a:r>
              <a:rPr dirty="0" sz="1400" spc="-10">
                <a:solidFill>
                  <a:srgbClr val="3B3939"/>
                </a:solidFill>
              </a:rPr>
              <a:t>recommendation</a:t>
            </a:r>
            <a:r>
              <a:rPr dirty="0" sz="1400" spc="-30">
                <a:solidFill>
                  <a:srgbClr val="3B3939"/>
                </a:solidFill>
              </a:rPr>
              <a:t> </a:t>
            </a:r>
            <a:r>
              <a:rPr dirty="0" sz="1400">
                <a:solidFill>
                  <a:srgbClr val="3B3939"/>
                </a:solidFill>
              </a:rPr>
              <a:t>engine</a:t>
            </a:r>
            <a:r>
              <a:rPr dirty="0" sz="1400" spc="-20">
                <a:solidFill>
                  <a:srgbClr val="3B3939"/>
                </a:solidFill>
              </a:rPr>
              <a:t> </a:t>
            </a:r>
            <a:r>
              <a:rPr dirty="0" sz="1400">
                <a:solidFill>
                  <a:srgbClr val="3B3939"/>
                </a:solidFill>
              </a:rPr>
              <a:t>built</a:t>
            </a:r>
            <a:r>
              <a:rPr dirty="0" sz="1400" spc="-25">
                <a:solidFill>
                  <a:srgbClr val="3B3939"/>
                </a:solidFill>
              </a:rPr>
              <a:t> </a:t>
            </a:r>
            <a:r>
              <a:rPr dirty="0" sz="1400">
                <a:solidFill>
                  <a:srgbClr val="3B3939"/>
                </a:solidFill>
              </a:rPr>
              <a:t>on</a:t>
            </a:r>
            <a:r>
              <a:rPr dirty="0" sz="1400" spc="-30">
                <a:solidFill>
                  <a:srgbClr val="3B3939"/>
                </a:solidFill>
              </a:rPr>
              <a:t> </a:t>
            </a:r>
            <a:r>
              <a:rPr dirty="0" sz="1400" spc="-10">
                <a:solidFill>
                  <a:srgbClr val="3B3939"/>
                </a:solidFill>
              </a:rPr>
              <a:t>content</a:t>
            </a:r>
            <a:r>
              <a:rPr dirty="0" sz="1400" spc="-30">
                <a:solidFill>
                  <a:srgbClr val="3B3939"/>
                </a:solidFill>
              </a:rPr>
              <a:t> </a:t>
            </a:r>
            <a:r>
              <a:rPr dirty="0" sz="1400" spc="-10">
                <a:solidFill>
                  <a:srgbClr val="3B3939"/>
                </a:solidFill>
              </a:rPr>
              <a:t>similarity.</a:t>
            </a:r>
            <a:endParaRPr sz="1400"/>
          </a:p>
        </p:txBody>
      </p:sp>
      <p:sp>
        <p:nvSpPr>
          <p:cNvPr id="3" name="object 3" descr=""/>
          <p:cNvSpPr txBox="1"/>
          <p:nvPr/>
        </p:nvSpPr>
        <p:spPr>
          <a:xfrm>
            <a:off x="950467" y="3924486"/>
            <a:ext cx="4718050" cy="799465"/>
          </a:xfrm>
          <a:prstGeom prst="rect">
            <a:avLst/>
          </a:prstGeom>
        </p:spPr>
        <p:txBody>
          <a:bodyPr wrap="square" lIns="0" tIns="172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dirty="0" sz="1800" spc="-10">
                <a:solidFill>
                  <a:srgbClr val="3B3939"/>
                </a:solidFill>
                <a:latin typeface="Calibri"/>
                <a:cs typeface="Calibri"/>
              </a:rPr>
              <a:t>TF-</a:t>
            </a:r>
            <a:r>
              <a:rPr dirty="0" sz="1800">
                <a:solidFill>
                  <a:srgbClr val="3B3939"/>
                </a:solidFill>
                <a:latin typeface="Calibri"/>
                <a:cs typeface="Calibri"/>
              </a:rPr>
              <a:t>IDF</a:t>
            </a:r>
            <a:r>
              <a:rPr dirty="0" sz="1800" spc="1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3B3939"/>
                </a:solidFill>
                <a:latin typeface="Calibri"/>
                <a:cs typeface="Calibri"/>
              </a:rPr>
              <a:t>Vectors</a:t>
            </a:r>
            <a:endParaRPr sz="1800">
              <a:latin typeface="Calibri"/>
              <a:cs typeface="Calibri"/>
            </a:endParaRPr>
          </a:p>
          <a:p>
            <a:pPr marL="118745">
              <a:lnSpc>
                <a:spcPct val="100000"/>
              </a:lnSpc>
              <a:spcBef>
                <a:spcPts val="990"/>
              </a:spcBef>
            </a:pP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Descriptions</a:t>
            </a:r>
            <a:r>
              <a:rPr dirty="0" sz="14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3B3939"/>
                </a:solidFill>
                <a:latin typeface="Calibri"/>
                <a:cs typeface="Calibri"/>
              </a:rPr>
              <a:t>transformed</a:t>
            </a:r>
            <a:r>
              <a:rPr dirty="0" sz="140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into</a:t>
            </a:r>
            <a:r>
              <a:rPr dirty="0" sz="14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vectors</a:t>
            </a:r>
            <a:r>
              <a:rPr dirty="0" sz="1400" spc="-2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for</a:t>
            </a:r>
            <a:r>
              <a:rPr dirty="0" sz="140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semantic</a:t>
            </a:r>
            <a:r>
              <a:rPr dirty="0" sz="140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comparison.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592948" y="3924486"/>
            <a:ext cx="3116580" cy="799465"/>
          </a:xfrm>
          <a:prstGeom prst="rect">
            <a:avLst/>
          </a:prstGeom>
        </p:spPr>
        <p:txBody>
          <a:bodyPr wrap="square" lIns="0" tIns="172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dirty="0" sz="1800">
                <a:solidFill>
                  <a:srgbClr val="3B3939"/>
                </a:solidFill>
                <a:latin typeface="Calibri"/>
                <a:cs typeface="Calibri"/>
              </a:rPr>
              <a:t>Cosine</a:t>
            </a:r>
            <a:r>
              <a:rPr dirty="0" sz="180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3B3939"/>
                </a:solidFill>
                <a:latin typeface="Calibri"/>
                <a:cs typeface="Calibri"/>
              </a:rPr>
              <a:t>Similarity</a:t>
            </a:r>
            <a:endParaRPr sz="1800">
              <a:latin typeface="Calibri"/>
              <a:cs typeface="Calibri"/>
            </a:endParaRPr>
          </a:p>
          <a:p>
            <a:pPr marL="34925">
              <a:lnSpc>
                <a:spcPct val="100000"/>
              </a:lnSpc>
              <a:spcBef>
                <a:spcPts val="990"/>
              </a:spcBef>
            </a:pP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Measures</a:t>
            </a:r>
            <a:r>
              <a:rPr dirty="0" sz="140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textual</a:t>
            </a:r>
            <a:r>
              <a:rPr dirty="0" sz="140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similarity</a:t>
            </a:r>
            <a:r>
              <a:rPr dirty="0" sz="1400" spc="-3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between</a:t>
            </a:r>
            <a:r>
              <a:rPr dirty="0" sz="140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titles.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02640" y="5301693"/>
            <a:ext cx="3016250" cy="800100"/>
          </a:xfrm>
          <a:prstGeom prst="rect">
            <a:avLst/>
          </a:prstGeom>
        </p:spPr>
        <p:txBody>
          <a:bodyPr wrap="square" lIns="0" tIns="173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1800">
                <a:solidFill>
                  <a:srgbClr val="3B3939"/>
                </a:solidFill>
                <a:latin typeface="Calibri"/>
                <a:cs typeface="Calibri"/>
              </a:rPr>
              <a:t>User </a:t>
            </a:r>
            <a:r>
              <a:rPr dirty="0" sz="1800" spc="-10">
                <a:solidFill>
                  <a:srgbClr val="3B3939"/>
                </a:solidFill>
                <a:latin typeface="Calibri"/>
                <a:cs typeface="Calibri"/>
              </a:rPr>
              <a:t>Input</a:t>
            </a:r>
            <a:endParaRPr sz="18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990"/>
              </a:spcBef>
            </a:pP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System</a:t>
            </a:r>
            <a:r>
              <a:rPr dirty="0" sz="140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takes</a:t>
            </a:r>
            <a:r>
              <a:rPr dirty="0" sz="140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a</a:t>
            </a:r>
            <a:r>
              <a:rPr dirty="0" sz="140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title,</a:t>
            </a:r>
            <a:r>
              <a:rPr dirty="0" sz="1400" spc="-4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finds</a:t>
            </a:r>
            <a:r>
              <a:rPr dirty="0" sz="1400" spc="-3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similar</a:t>
            </a:r>
            <a:r>
              <a:rPr dirty="0" sz="1400" spc="-4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content.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414384" y="5301693"/>
            <a:ext cx="4259580" cy="800100"/>
          </a:xfrm>
          <a:prstGeom prst="rect">
            <a:avLst/>
          </a:prstGeom>
        </p:spPr>
        <p:txBody>
          <a:bodyPr wrap="square" lIns="0" tIns="173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1800" spc="-10">
                <a:solidFill>
                  <a:srgbClr val="3B3939"/>
                </a:solidFill>
                <a:latin typeface="Calibri"/>
                <a:cs typeface="Calibri"/>
              </a:rPr>
              <a:t>Personalized</a:t>
            </a:r>
            <a:r>
              <a:rPr dirty="0" sz="1800" spc="-8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3B3939"/>
                </a:solidFill>
                <a:latin typeface="Calibri"/>
                <a:cs typeface="Calibri"/>
              </a:rPr>
              <a:t>Suggestions</a:t>
            </a:r>
            <a:endParaRPr sz="18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990"/>
              </a:spcBef>
            </a:pP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Enhances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user</a:t>
            </a:r>
            <a:r>
              <a:rPr dirty="0" sz="1400" spc="-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experience </a:t>
            </a:r>
            <a:r>
              <a:rPr dirty="0" sz="1400">
                <a:solidFill>
                  <a:srgbClr val="3B3939"/>
                </a:solidFill>
                <a:latin typeface="Calibri"/>
                <a:cs typeface="Calibri"/>
              </a:rPr>
              <a:t>with</a:t>
            </a:r>
            <a:r>
              <a:rPr dirty="0" sz="1400" spc="-2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3B3939"/>
                </a:solidFill>
                <a:latin typeface="Calibri"/>
                <a:cs typeface="Calibri"/>
              </a:rPr>
              <a:t>Netflix-</a:t>
            </a:r>
            <a:r>
              <a:rPr dirty="0" sz="1400" spc="-10">
                <a:solidFill>
                  <a:srgbClr val="3B3939"/>
                </a:solidFill>
                <a:latin typeface="Calibri"/>
                <a:cs typeface="Calibri"/>
              </a:rPr>
              <a:t>like personalization.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81304" y="5762521"/>
            <a:ext cx="9159875" cy="1417955"/>
          </a:xfrm>
          <a:prstGeom prst="rect">
            <a:avLst/>
          </a:prstGeom>
        </p:spPr>
        <p:txBody>
          <a:bodyPr wrap="square" lIns="0" tIns="333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25"/>
              </a:spcBef>
            </a:pPr>
            <a:r>
              <a:rPr dirty="0" sz="4450">
                <a:solidFill>
                  <a:srgbClr val="1B1B27"/>
                </a:solidFill>
                <a:latin typeface="Calibri"/>
                <a:cs typeface="Calibri"/>
              </a:rPr>
              <a:t>Deployment:</a:t>
            </a:r>
            <a:r>
              <a:rPr dirty="0" sz="4450" spc="-95">
                <a:solidFill>
                  <a:srgbClr val="1B1B27"/>
                </a:solidFill>
                <a:latin typeface="Calibri"/>
                <a:cs typeface="Calibri"/>
              </a:rPr>
              <a:t> </a:t>
            </a:r>
            <a:r>
              <a:rPr dirty="0" sz="4450">
                <a:solidFill>
                  <a:srgbClr val="1B1B27"/>
                </a:solidFill>
                <a:latin typeface="Calibri"/>
                <a:cs typeface="Calibri"/>
              </a:rPr>
              <a:t>Making</a:t>
            </a:r>
            <a:r>
              <a:rPr dirty="0" sz="4450" spc="-95">
                <a:solidFill>
                  <a:srgbClr val="1B1B27"/>
                </a:solidFill>
                <a:latin typeface="Calibri"/>
                <a:cs typeface="Calibri"/>
              </a:rPr>
              <a:t> </a:t>
            </a:r>
            <a:r>
              <a:rPr dirty="0" sz="4450">
                <a:solidFill>
                  <a:srgbClr val="1B1B27"/>
                </a:solidFill>
                <a:latin typeface="Calibri"/>
                <a:cs typeface="Calibri"/>
              </a:rPr>
              <a:t>Models</a:t>
            </a:r>
            <a:r>
              <a:rPr dirty="0" sz="4450" spc="-100">
                <a:solidFill>
                  <a:srgbClr val="1B1B27"/>
                </a:solidFill>
                <a:latin typeface="Calibri"/>
                <a:cs typeface="Calibri"/>
              </a:rPr>
              <a:t> </a:t>
            </a:r>
            <a:r>
              <a:rPr dirty="0" sz="4450" spc="-10">
                <a:solidFill>
                  <a:srgbClr val="1B1B27"/>
                </a:solidFill>
                <a:latin typeface="Calibri"/>
                <a:cs typeface="Calibri"/>
              </a:rPr>
              <a:t>Accessible</a:t>
            </a:r>
            <a:endParaRPr sz="4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750" spc="-20">
                <a:solidFill>
                  <a:srgbClr val="3B3939"/>
                </a:solidFill>
                <a:latin typeface="Calibri"/>
                <a:cs typeface="Calibri"/>
              </a:rPr>
              <a:t>Trained</a:t>
            </a:r>
            <a:r>
              <a:rPr dirty="0" sz="17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models</a:t>
            </a:r>
            <a:r>
              <a:rPr dirty="0" sz="17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are</a:t>
            </a:r>
            <a:r>
              <a:rPr dirty="0" sz="17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saved</a:t>
            </a:r>
            <a:r>
              <a:rPr dirty="0" sz="17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for</a:t>
            </a:r>
            <a:r>
              <a:rPr dirty="0" sz="175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seamless</a:t>
            </a:r>
            <a:r>
              <a:rPr dirty="0" sz="1750" spc="-7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20">
                <a:solidFill>
                  <a:srgbClr val="3B3939"/>
                </a:solidFill>
                <a:latin typeface="Calibri"/>
                <a:cs typeface="Calibri"/>
              </a:rPr>
              <a:t>integration</a:t>
            </a:r>
            <a:r>
              <a:rPr dirty="0" sz="1750" spc="-6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and</a:t>
            </a:r>
            <a:r>
              <a:rPr dirty="0" sz="175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3B3939"/>
                </a:solidFill>
                <a:latin typeface="Calibri"/>
                <a:cs typeface="Calibri"/>
              </a:rPr>
              <a:t>reusability.</a:t>
            </a:r>
            <a:endParaRPr sz="175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1984" y="3171698"/>
            <a:ext cx="13347065" cy="73278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984" y="4737861"/>
            <a:ext cx="13347065" cy="73278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4630399" cy="2291715"/>
          </a:xfrm>
          <a:prstGeom prst="rect">
            <a:avLst/>
          </a:prstGeom>
        </p:spPr>
      </p:pic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preencoded.pn</a:t>
            </a:r>
            <a:r>
              <a:rPr dirty="0" spc="75"/>
              <a:t> </a:t>
            </a:r>
            <a:r>
              <a:rPr dirty="0" spc="-50"/>
              <a:t>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88377" y="1253998"/>
            <a:ext cx="3277870" cy="4298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10"/>
              <a:t>Integration</a:t>
            </a:r>
            <a:r>
              <a:rPr dirty="0" sz="2650" spc="-100"/>
              <a:t> </a:t>
            </a:r>
            <a:r>
              <a:rPr dirty="0" sz="2650" spc="-10"/>
              <a:t>Possibilities:</a:t>
            </a:r>
            <a:endParaRPr sz="2650"/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84854" indent="-500380">
              <a:lnSpc>
                <a:spcPct val="100000"/>
              </a:lnSpc>
              <a:spcBef>
                <a:spcPts val="100"/>
              </a:spcBef>
              <a:buChar char="•"/>
              <a:tabLst>
                <a:tab pos="3284854" algn="l"/>
              </a:tabLst>
            </a:pPr>
            <a:r>
              <a:rPr dirty="0" spc="-10"/>
              <a:t>Web</a:t>
            </a:r>
            <a:r>
              <a:rPr dirty="0" spc="-80"/>
              <a:t> </a:t>
            </a:r>
            <a:r>
              <a:rPr dirty="0" spc="-10"/>
              <a:t>applications</a:t>
            </a:r>
          </a:p>
          <a:p>
            <a:pPr marL="3173095" indent="-499745">
              <a:lnSpc>
                <a:spcPct val="100000"/>
              </a:lnSpc>
              <a:spcBef>
                <a:spcPts val="1490"/>
              </a:spcBef>
              <a:buChar char="•"/>
              <a:tabLst>
                <a:tab pos="3173095" algn="l"/>
              </a:tabLst>
            </a:pPr>
            <a:r>
              <a:rPr dirty="0"/>
              <a:t>Mobile</a:t>
            </a:r>
            <a:r>
              <a:rPr dirty="0" spc="-65"/>
              <a:t> </a:t>
            </a:r>
            <a:r>
              <a:rPr dirty="0" spc="-10"/>
              <a:t>applications</a:t>
            </a:r>
          </a:p>
          <a:p>
            <a:pPr marL="3042285" indent="-499745">
              <a:lnSpc>
                <a:spcPct val="100000"/>
              </a:lnSpc>
              <a:spcBef>
                <a:spcPts val="1500"/>
              </a:spcBef>
              <a:buChar char="•"/>
              <a:tabLst>
                <a:tab pos="3042285" algn="l"/>
              </a:tabLst>
            </a:pPr>
            <a:r>
              <a:rPr dirty="0" spc="-10"/>
              <a:t>Recommendation</a:t>
            </a:r>
            <a:r>
              <a:rPr dirty="0" spc="-85"/>
              <a:t> </a:t>
            </a:r>
            <a:r>
              <a:rPr dirty="0" spc="-20"/>
              <a:t>APIs</a:t>
            </a:r>
          </a:p>
          <a:p>
            <a:pPr>
              <a:lnSpc>
                <a:spcPct val="100000"/>
              </a:lnSpc>
              <a:spcBef>
                <a:spcPts val="229"/>
              </a:spcBef>
            </a:pPr>
          </a:p>
          <a:p>
            <a:pPr marL="12700">
              <a:lnSpc>
                <a:spcPct val="100000"/>
              </a:lnSpc>
            </a:pPr>
            <a:r>
              <a:rPr dirty="0"/>
              <a:t>Ensures</a:t>
            </a:r>
            <a:r>
              <a:rPr dirty="0" spc="-50"/>
              <a:t> </a:t>
            </a:r>
            <a:r>
              <a:rPr dirty="0"/>
              <a:t>that</a:t>
            </a:r>
            <a:r>
              <a:rPr dirty="0" spc="-55"/>
              <a:t> </a:t>
            </a:r>
            <a:r>
              <a:rPr dirty="0"/>
              <a:t>models</a:t>
            </a:r>
            <a:r>
              <a:rPr dirty="0" spc="-55"/>
              <a:t> </a:t>
            </a:r>
            <a:r>
              <a:rPr dirty="0"/>
              <a:t>can</a:t>
            </a:r>
            <a:r>
              <a:rPr dirty="0" spc="-55"/>
              <a:t> </a:t>
            </a:r>
            <a:r>
              <a:rPr dirty="0"/>
              <a:t>be</a:t>
            </a:r>
            <a:r>
              <a:rPr dirty="0" spc="-55"/>
              <a:t> </a:t>
            </a:r>
            <a:r>
              <a:rPr dirty="0" spc="-10"/>
              <a:t>utilized</a:t>
            </a:r>
            <a:r>
              <a:rPr dirty="0" spc="-45"/>
              <a:t> </a:t>
            </a:r>
            <a:r>
              <a:rPr dirty="0"/>
              <a:t>without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/>
              <a:t>need</a:t>
            </a:r>
            <a:r>
              <a:rPr dirty="0" spc="-50"/>
              <a:t> </a:t>
            </a:r>
            <a:r>
              <a:rPr dirty="0" spc="-25"/>
              <a:t>for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pc="-10"/>
              <a:t>retraining,</a:t>
            </a:r>
            <a:r>
              <a:rPr dirty="0" spc="-50"/>
              <a:t> </a:t>
            </a:r>
            <a:r>
              <a:rPr dirty="0" spc="-10"/>
              <a:t>streamlining</a:t>
            </a:r>
            <a:r>
              <a:rPr dirty="0" spc="-50"/>
              <a:t> </a:t>
            </a:r>
            <a:r>
              <a:rPr dirty="0"/>
              <a:t>future</a:t>
            </a:r>
            <a:r>
              <a:rPr dirty="0" spc="-50"/>
              <a:t> </a:t>
            </a:r>
            <a:r>
              <a:rPr dirty="0" spc="-10"/>
              <a:t>development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 spc="-10"/>
              <a:t>implementation.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140067" y="4110609"/>
            <a:ext cx="2069464" cy="704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50" b="1">
                <a:solidFill>
                  <a:srgbClr val="1B1B27"/>
                </a:solidFill>
                <a:latin typeface="Calibri"/>
                <a:cs typeface="Calibri"/>
              </a:rPr>
              <a:t>THE</a:t>
            </a:r>
            <a:r>
              <a:rPr dirty="0" sz="4450" spc="-75" b="1">
                <a:solidFill>
                  <a:srgbClr val="1B1B27"/>
                </a:solidFill>
                <a:latin typeface="Calibri"/>
                <a:cs typeface="Calibri"/>
              </a:rPr>
              <a:t> </a:t>
            </a:r>
            <a:r>
              <a:rPr dirty="0" sz="4450" spc="-25" b="1">
                <a:solidFill>
                  <a:srgbClr val="1B1B27"/>
                </a:solidFill>
                <a:latin typeface="Calibri"/>
                <a:cs typeface="Calibri"/>
              </a:rPr>
              <a:t>END</a:t>
            </a:r>
            <a:endParaRPr sz="44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888863" y="4918328"/>
            <a:ext cx="259524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THANK</a:t>
            </a:r>
            <a:r>
              <a:rPr dirty="0" sz="1750" spc="-6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YOU</a:t>
            </a:r>
            <a:r>
              <a:rPr dirty="0" sz="1750" spc="-5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FOR</a:t>
            </a:r>
            <a:r>
              <a:rPr dirty="0" sz="1750" spc="-7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3B3939"/>
                </a:solidFill>
                <a:latin typeface="Calibri"/>
                <a:cs typeface="Calibri"/>
              </a:rPr>
              <a:t>YOUR</a:t>
            </a:r>
            <a:r>
              <a:rPr dirty="0" sz="1750" spc="-55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dirty="0" sz="1750" spc="-20">
                <a:solidFill>
                  <a:srgbClr val="3B3939"/>
                </a:solidFill>
                <a:latin typeface="Calibri"/>
                <a:cs typeface="Calibri"/>
              </a:rPr>
              <a:t>TIME</a:t>
            </a:r>
            <a:endParaRPr sz="175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89940" y="1308735"/>
            <a:ext cx="6252210" cy="3498215"/>
            <a:chOff x="789940" y="1308735"/>
            <a:chExt cx="6252210" cy="349821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40" y="1308735"/>
              <a:ext cx="6252210" cy="349821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801370" y="3057779"/>
              <a:ext cx="6229350" cy="1737995"/>
            </a:xfrm>
            <a:custGeom>
              <a:avLst/>
              <a:gdLst/>
              <a:ahLst/>
              <a:cxnLst/>
              <a:rect l="l" t="t" r="r" b="b"/>
              <a:pathLst>
                <a:path w="6229350" h="1737995">
                  <a:moveTo>
                    <a:pt x="6229350" y="0"/>
                  </a:moveTo>
                  <a:lnTo>
                    <a:pt x="0" y="0"/>
                  </a:lnTo>
                  <a:lnTo>
                    <a:pt x="0" y="1737741"/>
                  </a:lnTo>
                  <a:lnTo>
                    <a:pt x="6229350" y="1737741"/>
                  </a:lnTo>
                  <a:lnTo>
                    <a:pt x="6229350" y="0"/>
                  </a:lnTo>
                  <a:close/>
                </a:path>
              </a:pathLst>
            </a:custGeom>
            <a:solidFill>
              <a:srgbClr val="E0E0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01370" y="3057779"/>
              <a:ext cx="6229350" cy="30480"/>
            </a:xfrm>
            <a:custGeom>
              <a:avLst/>
              <a:gdLst/>
              <a:ahLst/>
              <a:cxnLst/>
              <a:rect l="l" t="t" r="r" b="b"/>
              <a:pathLst>
                <a:path w="6229350" h="30480">
                  <a:moveTo>
                    <a:pt x="6222619" y="0"/>
                  </a:moveTo>
                  <a:lnTo>
                    <a:pt x="15239" y="0"/>
                  </a:lnTo>
                  <a:lnTo>
                    <a:pt x="6819" y="0"/>
                  </a:lnTo>
                  <a:lnTo>
                    <a:pt x="0" y="6858"/>
                  </a:lnTo>
                  <a:lnTo>
                    <a:pt x="0" y="23749"/>
                  </a:lnTo>
                  <a:lnTo>
                    <a:pt x="6819" y="30480"/>
                  </a:lnTo>
                  <a:lnTo>
                    <a:pt x="6222619" y="30480"/>
                  </a:lnTo>
                  <a:lnTo>
                    <a:pt x="6229350" y="23749"/>
                  </a:lnTo>
                  <a:lnTo>
                    <a:pt x="6229350" y="6858"/>
                  </a:lnTo>
                  <a:lnTo>
                    <a:pt x="6222619" y="0"/>
                  </a:lnTo>
                  <a:close/>
                </a:path>
              </a:pathLst>
            </a:custGeom>
            <a:solidFill>
              <a:srgbClr val="C6C6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632454" y="2789555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4">
                  <a:moveTo>
                    <a:pt x="471678" y="0"/>
                  </a:moveTo>
                  <a:lnTo>
                    <a:pt x="95250" y="0"/>
                  </a:lnTo>
                  <a:lnTo>
                    <a:pt x="58185" y="7489"/>
                  </a:lnTo>
                  <a:lnTo>
                    <a:pt x="27908" y="27908"/>
                  </a:lnTo>
                  <a:lnTo>
                    <a:pt x="7489" y="58185"/>
                  </a:lnTo>
                  <a:lnTo>
                    <a:pt x="0" y="95250"/>
                  </a:lnTo>
                  <a:lnTo>
                    <a:pt x="0" y="471805"/>
                  </a:lnTo>
                  <a:lnTo>
                    <a:pt x="7489" y="508869"/>
                  </a:lnTo>
                  <a:lnTo>
                    <a:pt x="27908" y="539146"/>
                  </a:lnTo>
                  <a:lnTo>
                    <a:pt x="58185" y="559565"/>
                  </a:lnTo>
                  <a:lnTo>
                    <a:pt x="95250" y="567055"/>
                  </a:lnTo>
                  <a:lnTo>
                    <a:pt x="471678" y="567055"/>
                  </a:lnTo>
                  <a:lnTo>
                    <a:pt x="508795" y="559565"/>
                  </a:lnTo>
                  <a:lnTo>
                    <a:pt x="539067" y="539146"/>
                  </a:lnTo>
                  <a:lnTo>
                    <a:pt x="559456" y="508869"/>
                  </a:lnTo>
                  <a:lnTo>
                    <a:pt x="566928" y="471805"/>
                  </a:lnTo>
                  <a:lnTo>
                    <a:pt x="566928" y="95250"/>
                  </a:lnTo>
                  <a:lnTo>
                    <a:pt x="559456" y="58185"/>
                  </a:lnTo>
                  <a:lnTo>
                    <a:pt x="539067" y="27908"/>
                  </a:lnTo>
                  <a:lnTo>
                    <a:pt x="508795" y="7489"/>
                  </a:lnTo>
                  <a:lnTo>
                    <a:pt x="471678" y="0"/>
                  </a:lnTo>
                  <a:close/>
                </a:path>
              </a:pathLst>
            </a:custGeom>
            <a:solidFill>
              <a:srgbClr val="FFFFF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632454" y="2789555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4">
                  <a:moveTo>
                    <a:pt x="0" y="95250"/>
                  </a:moveTo>
                  <a:lnTo>
                    <a:pt x="7489" y="58185"/>
                  </a:lnTo>
                  <a:lnTo>
                    <a:pt x="27908" y="27908"/>
                  </a:lnTo>
                  <a:lnTo>
                    <a:pt x="58185" y="7489"/>
                  </a:lnTo>
                  <a:lnTo>
                    <a:pt x="95250" y="0"/>
                  </a:lnTo>
                  <a:lnTo>
                    <a:pt x="471678" y="0"/>
                  </a:lnTo>
                  <a:lnTo>
                    <a:pt x="508795" y="7489"/>
                  </a:lnTo>
                  <a:lnTo>
                    <a:pt x="539067" y="27908"/>
                  </a:lnTo>
                  <a:lnTo>
                    <a:pt x="559456" y="58185"/>
                  </a:lnTo>
                  <a:lnTo>
                    <a:pt x="566928" y="95250"/>
                  </a:lnTo>
                  <a:lnTo>
                    <a:pt x="566928" y="471805"/>
                  </a:lnTo>
                  <a:lnTo>
                    <a:pt x="559456" y="508869"/>
                  </a:lnTo>
                  <a:lnTo>
                    <a:pt x="539067" y="539146"/>
                  </a:lnTo>
                  <a:lnTo>
                    <a:pt x="508795" y="559565"/>
                  </a:lnTo>
                  <a:lnTo>
                    <a:pt x="471678" y="567055"/>
                  </a:lnTo>
                  <a:lnTo>
                    <a:pt x="95250" y="567055"/>
                  </a:lnTo>
                  <a:lnTo>
                    <a:pt x="58185" y="559565"/>
                  </a:lnTo>
                  <a:lnTo>
                    <a:pt x="27908" y="539146"/>
                  </a:lnTo>
                  <a:lnTo>
                    <a:pt x="7489" y="508869"/>
                  </a:lnTo>
                  <a:lnTo>
                    <a:pt x="0" y="471805"/>
                  </a:lnTo>
                  <a:lnTo>
                    <a:pt x="0" y="95250"/>
                  </a:lnTo>
                  <a:close/>
                </a:path>
              </a:pathLst>
            </a:custGeom>
            <a:ln w="30480">
              <a:solidFill>
                <a:srgbClr val="C6C6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80235" y="2942289"/>
              <a:ext cx="271619" cy="26158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9825" y="3707130"/>
              <a:ext cx="1536406" cy="19227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9893" y="4376801"/>
              <a:ext cx="572338" cy="153035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91512" y="4376927"/>
              <a:ext cx="446278" cy="152908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2221865" y="4375658"/>
              <a:ext cx="279400" cy="154305"/>
            </a:xfrm>
            <a:custGeom>
              <a:avLst/>
              <a:gdLst/>
              <a:ahLst/>
              <a:cxnLst/>
              <a:rect l="l" t="t" r="r" b="b"/>
              <a:pathLst>
                <a:path w="279400" h="154304">
                  <a:moveTo>
                    <a:pt x="34417" y="152526"/>
                  </a:moveTo>
                  <a:lnTo>
                    <a:pt x="24637" y="152526"/>
                  </a:lnTo>
                  <a:lnTo>
                    <a:pt x="25908" y="152780"/>
                  </a:lnTo>
                  <a:lnTo>
                    <a:pt x="33020" y="152780"/>
                  </a:lnTo>
                  <a:lnTo>
                    <a:pt x="34417" y="152526"/>
                  </a:lnTo>
                  <a:close/>
                </a:path>
                <a:path w="279400" h="154304">
                  <a:moveTo>
                    <a:pt x="39624" y="63753"/>
                  </a:moveTo>
                  <a:lnTo>
                    <a:pt x="19431" y="63753"/>
                  </a:lnTo>
                  <a:lnTo>
                    <a:pt x="19431" y="149987"/>
                  </a:lnTo>
                  <a:lnTo>
                    <a:pt x="19558" y="150494"/>
                  </a:lnTo>
                  <a:lnTo>
                    <a:pt x="19939" y="150875"/>
                  </a:lnTo>
                  <a:lnTo>
                    <a:pt x="20193" y="151256"/>
                  </a:lnTo>
                  <a:lnTo>
                    <a:pt x="20701" y="151637"/>
                  </a:lnTo>
                  <a:lnTo>
                    <a:pt x="21590" y="151891"/>
                  </a:lnTo>
                  <a:lnTo>
                    <a:pt x="22352" y="152272"/>
                  </a:lnTo>
                  <a:lnTo>
                    <a:pt x="24383" y="152526"/>
                  </a:lnTo>
                  <a:lnTo>
                    <a:pt x="34671" y="152526"/>
                  </a:lnTo>
                  <a:lnTo>
                    <a:pt x="36703" y="152272"/>
                  </a:lnTo>
                  <a:lnTo>
                    <a:pt x="37465" y="151891"/>
                  </a:lnTo>
                  <a:lnTo>
                    <a:pt x="38227" y="151637"/>
                  </a:lnTo>
                  <a:lnTo>
                    <a:pt x="38735" y="151256"/>
                  </a:lnTo>
                  <a:lnTo>
                    <a:pt x="39497" y="150494"/>
                  </a:lnTo>
                  <a:lnTo>
                    <a:pt x="39624" y="63753"/>
                  </a:lnTo>
                  <a:close/>
                </a:path>
                <a:path w="279400" h="154304">
                  <a:moveTo>
                    <a:pt x="65278" y="48894"/>
                  </a:moveTo>
                  <a:lnTo>
                    <a:pt x="2793" y="48894"/>
                  </a:lnTo>
                  <a:lnTo>
                    <a:pt x="1778" y="49402"/>
                  </a:lnTo>
                  <a:lnTo>
                    <a:pt x="0" y="54990"/>
                  </a:lnTo>
                  <a:lnTo>
                    <a:pt x="0" y="58927"/>
                  </a:lnTo>
                  <a:lnTo>
                    <a:pt x="381" y="60832"/>
                  </a:lnTo>
                  <a:lnTo>
                    <a:pt x="1651" y="63118"/>
                  </a:lnTo>
                  <a:lnTo>
                    <a:pt x="2667" y="63753"/>
                  </a:lnTo>
                  <a:lnTo>
                    <a:pt x="65278" y="63753"/>
                  </a:lnTo>
                  <a:lnTo>
                    <a:pt x="66293" y="63118"/>
                  </a:lnTo>
                  <a:lnTo>
                    <a:pt x="66929" y="61975"/>
                  </a:lnTo>
                  <a:lnTo>
                    <a:pt x="67691" y="60832"/>
                  </a:lnTo>
                  <a:lnTo>
                    <a:pt x="68072" y="58927"/>
                  </a:lnTo>
                  <a:lnTo>
                    <a:pt x="67945" y="53847"/>
                  </a:lnTo>
                  <a:lnTo>
                    <a:pt x="67818" y="52831"/>
                  </a:lnTo>
                  <a:lnTo>
                    <a:pt x="65659" y="49149"/>
                  </a:lnTo>
                  <a:lnTo>
                    <a:pt x="65278" y="48894"/>
                  </a:lnTo>
                  <a:close/>
                </a:path>
                <a:path w="279400" h="154304">
                  <a:moveTo>
                    <a:pt x="57531" y="0"/>
                  </a:moveTo>
                  <a:lnTo>
                    <a:pt x="48641" y="0"/>
                  </a:lnTo>
                  <a:lnTo>
                    <a:pt x="43434" y="762"/>
                  </a:lnTo>
                  <a:lnTo>
                    <a:pt x="39116" y="2286"/>
                  </a:lnTo>
                  <a:lnTo>
                    <a:pt x="34671" y="3809"/>
                  </a:lnTo>
                  <a:lnTo>
                    <a:pt x="21590" y="21208"/>
                  </a:lnTo>
                  <a:lnTo>
                    <a:pt x="20066" y="26034"/>
                  </a:lnTo>
                  <a:lnTo>
                    <a:pt x="19431" y="31876"/>
                  </a:lnTo>
                  <a:lnTo>
                    <a:pt x="19431" y="48894"/>
                  </a:lnTo>
                  <a:lnTo>
                    <a:pt x="39624" y="48894"/>
                  </a:lnTo>
                  <a:lnTo>
                    <a:pt x="39624" y="34036"/>
                  </a:lnTo>
                  <a:lnTo>
                    <a:pt x="39772" y="31876"/>
                  </a:lnTo>
                  <a:lnTo>
                    <a:pt x="39878" y="30352"/>
                  </a:lnTo>
                  <a:lnTo>
                    <a:pt x="40512" y="27431"/>
                  </a:lnTo>
                  <a:lnTo>
                    <a:pt x="41021" y="24511"/>
                  </a:lnTo>
                  <a:lnTo>
                    <a:pt x="41910" y="22097"/>
                  </a:lnTo>
                  <a:lnTo>
                    <a:pt x="43307" y="20319"/>
                  </a:lnTo>
                  <a:lnTo>
                    <a:pt x="44577" y="18414"/>
                  </a:lnTo>
                  <a:lnTo>
                    <a:pt x="46062" y="17271"/>
                  </a:lnTo>
                  <a:lnTo>
                    <a:pt x="45919" y="17271"/>
                  </a:lnTo>
                  <a:lnTo>
                    <a:pt x="48387" y="16255"/>
                  </a:lnTo>
                  <a:lnTo>
                    <a:pt x="50418" y="15366"/>
                  </a:lnTo>
                  <a:lnTo>
                    <a:pt x="52197" y="15112"/>
                  </a:lnTo>
                  <a:lnTo>
                    <a:pt x="73865" y="15112"/>
                  </a:lnTo>
                  <a:lnTo>
                    <a:pt x="73914" y="6984"/>
                  </a:lnTo>
                  <a:lnTo>
                    <a:pt x="73660" y="6095"/>
                  </a:lnTo>
                  <a:lnTo>
                    <a:pt x="73279" y="5461"/>
                  </a:lnTo>
                  <a:lnTo>
                    <a:pt x="73025" y="4699"/>
                  </a:lnTo>
                  <a:lnTo>
                    <a:pt x="72517" y="4190"/>
                  </a:lnTo>
                  <a:lnTo>
                    <a:pt x="72231" y="3809"/>
                  </a:lnTo>
                  <a:lnTo>
                    <a:pt x="71628" y="3301"/>
                  </a:lnTo>
                  <a:lnTo>
                    <a:pt x="60325" y="253"/>
                  </a:lnTo>
                  <a:lnTo>
                    <a:pt x="57531" y="0"/>
                  </a:lnTo>
                  <a:close/>
                </a:path>
                <a:path w="279400" h="154304">
                  <a:moveTo>
                    <a:pt x="73865" y="15112"/>
                  </a:moveTo>
                  <a:lnTo>
                    <a:pt x="60198" y="15112"/>
                  </a:lnTo>
                  <a:lnTo>
                    <a:pt x="61849" y="15366"/>
                  </a:lnTo>
                  <a:lnTo>
                    <a:pt x="63500" y="15747"/>
                  </a:lnTo>
                  <a:lnTo>
                    <a:pt x="66167" y="16509"/>
                  </a:lnTo>
                  <a:lnTo>
                    <a:pt x="67310" y="16890"/>
                  </a:lnTo>
                  <a:lnTo>
                    <a:pt x="68326" y="17271"/>
                  </a:lnTo>
                  <a:lnTo>
                    <a:pt x="69807" y="17906"/>
                  </a:lnTo>
                  <a:lnTo>
                    <a:pt x="72728" y="17906"/>
                  </a:lnTo>
                  <a:lnTo>
                    <a:pt x="73152" y="17271"/>
                  </a:lnTo>
                  <a:lnTo>
                    <a:pt x="73342" y="16890"/>
                  </a:lnTo>
                  <a:lnTo>
                    <a:pt x="73469" y="16509"/>
                  </a:lnTo>
                  <a:lnTo>
                    <a:pt x="73533" y="16255"/>
                  </a:lnTo>
                  <a:lnTo>
                    <a:pt x="73736" y="15747"/>
                  </a:lnTo>
                  <a:lnTo>
                    <a:pt x="73826" y="15366"/>
                  </a:lnTo>
                  <a:lnTo>
                    <a:pt x="73865" y="15112"/>
                  </a:lnTo>
                  <a:close/>
                </a:path>
                <a:path w="279400" h="154304">
                  <a:moveTo>
                    <a:pt x="141478" y="46736"/>
                  </a:moveTo>
                  <a:lnTo>
                    <a:pt x="123190" y="46736"/>
                  </a:lnTo>
                  <a:lnTo>
                    <a:pt x="114935" y="48132"/>
                  </a:lnTo>
                  <a:lnTo>
                    <a:pt x="82423" y="72770"/>
                  </a:lnTo>
                  <a:lnTo>
                    <a:pt x="80137" y="79375"/>
                  </a:lnTo>
                  <a:lnTo>
                    <a:pt x="77724" y="86105"/>
                  </a:lnTo>
                  <a:lnTo>
                    <a:pt x="76581" y="93471"/>
                  </a:lnTo>
                  <a:lnTo>
                    <a:pt x="76581" y="109727"/>
                  </a:lnTo>
                  <a:lnTo>
                    <a:pt x="94361" y="144779"/>
                  </a:lnTo>
                  <a:lnTo>
                    <a:pt x="121158" y="154177"/>
                  </a:lnTo>
                  <a:lnTo>
                    <a:pt x="139446" y="154177"/>
                  </a:lnTo>
                  <a:lnTo>
                    <a:pt x="146761" y="153034"/>
                  </a:lnTo>
                  <a:lnTo>
                    <a:pt x="147256" y="153034"/>
                  </a:lnTo>
                  <a:lnTo>
                    <a:pt x="154559" y="150113"/>
                  </a:lnTo>
                  <a:lnTo>
                    <a:pt x="161544" y="147446"/>
                  </a:lnTo>
                  <a:lnTo>
                    <a:pt x="167386" y="143637"/>
                  </a:lnTo>
                  <a:lnTo>
                    <a:pt x="171837" y="139064"/>
                  </a:lnTo>
                  <a:lnTo>
                    <a:pt x="124714" y="139064"/>
                  </a:lnTo>
                  <a:lnTo>
                    <a:pt x="119935" y="138175"/>
                  </a:lnTo>
                  <a:lnTo>
                    <a:pt x="119522" y="138175"/>
                  </a:lnTo>
                  <a:lnTo>
                    <a:pt x="110617" y="133984"/>
                  </a:lnTo>
                  <a:lnTo>
                    <a:pt x="107187" y="131190"/>
                  </a:lnTo>
                  <a:lnTo>
                    <a:pt x="104648" y="127634"/>
                  </a:lnTo>
                  <a:lnTo>
                    <a:pt x="101981" y="124078"/>
                  </a:lnTo>
                  <a:lnTo>
                    <a:pt x="97409" y="94614"/>
                  </a:lnTo>
                  <a:lnTo>
                    <a:pt x="97821" y="91312"/>
                  </a:lnTo>
                  <a:lnTo>
                    <a:pt x="97932" y="90424"/>
                  </a:lnTo>
                  <a:lnTo>
                    <a:pt x="125730" y="61721"/>
                  </a:lnTo>
                  <a:lnTo>
                    <a:pt x="173609" y="61721"/>
                  </a:lnTo>
                  <a:lnTo>
                    <a:pt x="172720" y="60832"/>
                  </a:lnTo>
                  <a:lnTo>
                    <a:pt x="168275" y="56261"/>
                  </a:lnTo>
                  <a:lnTo>
                    <a:pt x="162687" y="52704"/>
                  </a:lnTo>
                  <a:lnTo>
                    <a:pt x="155956" y="50291"/>
                  </a:lnTo>
                  <a:lnTo>
                    <a:pt x="149718" y="48132"/>
                  </a:lnTo>
                  <a:lnTo>
                    <a:pt x="150139" y="48132"/>
                  </a:lnTo>
                  <a:lnTo>
                    <a:pt x="141478" y="46736"/>
                  </a:lnTo>
                  <a:close/>
                </a:path>
                <a:path w="279400" h="154304">
                  <a:moveTo>
                    <a:pt x="173609" y="61721"/>
                  </a:moveTo>
                  <a:lnTo>
                    <a:pt x="138176" y="61721"/>
                  </a:lnTo>
                  <a:lnTo>
                    <a:pt x="143510" y="62737"/>
                  </a:lnTo>
                  <a:lnTo>
                    <a:pt x="147828" y="64896"/>
                  </a:lnTo>
                  <a:lnTo>
                    <a:pt x="165354" y="106299"/>
                  </a:lnTo>
                  <a:lnTo>
                    <a:pt x="164935" y="109727"/>
                  </a:lnTo>
                  <a:lnTo>
                    <a:pt x="164827" y="110616"/>
                  </a:lnTo>
                  <a:lnTo>
                    <a:pt x="164719" y="111505"/>
                  </a:lnTo>
                  <a:lnTo>
                    <a:pt x="163322" y="116204"/>
                  </a:lnTo>
                  <a:lnTo>
                    <a:pt x="162052" y="120903"/>
                  </a:lnTo>
                  <a:lnTo>
                    <a:pt x="160020" y="124967"/>
                  </a:lnTo>
                  <a:lnTo>
                    <a:pt x="137033" y="139064"/>
                  </a:lnTo>
                  <a:lnTo>
                    <a:pt x="171837" y="139064"/>
                  </a:lnTo>
                  <a:lnTo>
                    <a:pt x="186182" y="107441"/>
                  </a:lnTo>
                  <a:lnTo>
                    <a:pt x="186182" y="91312"/>
                  </a:lnTo>
                  <a:lnTo>
                    <a:pt x="185039" y="83946"/>
                  </a:lnTo>
                  <a:lnTo>
                    <a:pt x="182753" y="77342"/>
                  </a:lnTo>
                  <a:lnTo>
                    <a:pt x="180594" y="70865"/>
                  </a:lnTo>
                  <a:lnTo>
                    <a:pt x="177165" y="65277"/>
                  </a:lnTo>
                  <a:lnTo>
                    <a:pt x="173609" y="61721"/>
                  </a:lnTo>
                  <a:close/>
                </a:path>
                <a:path w="279400" h="154304">
                  <a:moveTo>
                    <a:pt x="232452" y="49529"/>
                  </a:moveTo>
                  <a:lnTo>
                    <a:pt x="216238" y="49529"/>
                  </a:lnTo>
                  <a:lnTo>
                    <a:pt x="215900" y="49783"/>
                  </a:lnTo>
                  <a:lnTo>
                    <a:pt x="215603" y="50291"/>
                  </a:lnTo>
                  <a:lnTo>
                    <a:pt x="215519" y="150494"/>
                  </a:lnTo>
                  <a:lnTo>
                    <a:pt x="216027" y="151256"/>
                  </a:lnTo>
                  <a:lnTo>
                    <a:pt x="216535" y="151637"/>
                  </a:lnTo>
                  <a:lnTo>
                    <a:pt x="217297" y="151891"/>
                  </a:lnTo>
                  <a:lnTo>
                    <a:pt x="218059" y="152272"/>
                  </a:lnTo>
                  <a:lnTo>
                    <a:pt x="220472" y="152526"/>
                  </a:lnTo>
                  <a:lnTo>
                    <a:pt x="221742" y="152780"/>
                  </a:lnTo>
                  <a:lnTo>
                    <a:pt x="228981" y="152780"/>
                  </a:lnTo>
                  <a:lnTo>
                    <a:pt x="230251" y="152526"/>
                  </a:lnTo>
                  <a:lnTo>
                    <a:pt x="230632" y="152526"/>
                  </a:lnTo>
                  <a:lnTo>
                    <a:pt x="232664" y="152272"/>
                  </a:lnTo>
                  <a:lnTo>
                    <a:pt x="233299" y="151891"/>
                  </a:lnTo>
                  <a:lnTo>
                    <a:pt x="234061" y="151637"/>
                  </a:lnTo>
                  <a:lnTo>
                    <a:pt x="234569" y="151256"/>
                  </a:lnTo>
                  <a:lnTo>
                    <a:pt x="234950" y="150875"/>
                  </a:lnTo>
                  <a:lnTo>
                    <a:pt x="235204" y="150494"/>
                  </a:lnTo>
                  <a:lnTo>
                    <a:pt x="235458" y="149987"/>
                  </a:lnTo>
                  <a:lnTo>
                    <a:pt x="235458" y="85089"/>
                  </a:lnTo>
                  <a:lnTo>
                    <a:pt x="238252" y="81152"/>
                  </a:lnTo>
                  <a:lnTo>
                    <a:pt x="240792" y="77724"/>
                  </a:lnTo>
                  <a:lnTo>
                    <a:pt x="243205" y="75056"/>
                  </a:lnTo>
                  <a:lnTo>
                    <a:pt x="245618" y="72262"/>
                  </a:lnTo>
                  <a:lnTo>
                    <a:pt x="247777" y="70103"/>
                  </a:lnTo>
                  <a:lnTo>
                    <a:pt x="249936" y="68325"/>
                  </a:lnTo>
                  <a:lnTo>
                    <a:pt x="252095" y="66675"/>
                  </a:lnTo>
                  <a:lnTo>
                    <a:pt x="253223" y="66039"/>
                  </a:lnTo>
                  <a:lnTo>
                    <a:pt x="233426" y="66039"/>
                  </a:lnTo>
                  <a:lnTo>
                    <a:pt x="233330" y="50672"/>
                  </a:lnTo>
                  <a:lnTo>
                    <a:pt x="233129" y="50291"/>
                  </a:lnTo>
                  <a:lnTo>
                    <a:pt x="232875" y="49911"/>
                  </a:lnTo>
                  <a:lnTo>
                    <a:pt x="232791" y="49783"/>
                  </a:lnTo>
                  <a:lnTo>
                    <a:pt x="232452" y="49529"/>
                  </a:lnTo>
                  <a:close/>
                </a:path>
                <a:path w="279400" h="154304">
                  <a:moveTo>
                    <a:pt x="279019" y="64007"/>
                  </a:moveTo>
                  <a:lnTo>
                    <a:pt x="266033" y="64007"/>
                  </a:lnTo>
                  <a:lnTo>
                    <a:pt x="268224" y="64388"/>
                  </a:lnTo>
                  <a:lnTo>
                    <a:pt x="269621" y="64769"/>
                  </a:lnTo>
                  <a:lnTo>
                    <a:pt x="270764" y="65024"/>
                  </a:lnTo>
                  <a:lnTo>
                    <a:pt x="272669" y="65658"/>
                  </a:lnTo>
                  <a:lnTo>
                    <a:pt x="273050" y="65658"/>
                  </a:lnTo>
                  <a:lnTo>
                    <a:pt x="274828" y="66420"/>
                  </a:lnTo>
                  <a:lnTo>
                    <a:pt x="277495" y="66420"/>
                  </a:lnTo>
                  <a:lnTo>
                    <a:pt x="277876" y="66039"/>
                  </a:lnTo>
                  <a:lnTo>
                    <a:pt x="278130" y="65658"/>
                  </a:lnTo>
                  <a:lnTo>
                    <a:pt x="278765" y="65024"/>
                  </a:lnTo>
                  <a:lnTo>
                    <a:pt x="278714" y="64769"/>
                  </a:lnTo>
                  <a:lnTo>
                    <a:pt x="279019" y="64007"/>
                  </a:lnTo>
                  <a:close/>
                </a:path>
                <a:path w="279400" h="154304">
                  <a:moveTo>
                    <a:pt x="268351" y="46989"/>
                  </a:moveTo>
                  <a:lnTo>
                    <a:pt x="258699" y="46989"/>
                  </a:lnTo>
                  <a:lnTo>
                    <a:pt x="256870" y="47497"/>
                  </a:lnTo>
                  <a:lnTo>
                    <a:pt x="255841" y="47751"/>
                  </a:lnTo>
                  <a:lnTo>
                    <a:pt x="253555" y="48259"/>
                  </a:lnTo>
                  <a:lnTo>
                    <a:pt x="253825" y="48259"/>
                  </a:lnTo>
                  <a:lnTo>
                    <a:pt x="251714" y="49149"/>
                  </a:lnTo>
                  <a:lnTo>
                    <a:pt x="249208" y="50672"/>
                  </a:lnTo>
                  <a:lnTo>
                    <a:pt x="247015" y="51942"/>
                  </a:lnTo>
                  <a:lnTo>
                    <a:pt x="244602" y="53847"/>
                  </a:lnTo>
                  <a:lnTo>
                    <a:pt x="241935" y="56261"/>
                  </a:lnTo>
                  <a:lnTo>
                    <a:pt x="239268" y="58800"/>
                  </a:lnTo>
                  <a:lnTo>
                    <a:pt x="236375" y="62102"/>
                  </a:lnTo>
                  <a:lnTo>
                    <a:pt x="233327" y="66039"/>
                  </a:lnTo>
                  <a:lnTo>
                    <a:pt x="253223" y="66039"/>
                  </a:lnTo>
                  <a:lnTo>
                    <a:pt x="253901" y="65658"/>
                  </a:lnTo>
                  <a:lnTo>
                    <a:pt x="258064" y="64007"/>
                  </a:lnTo>
                  <a:lnTo>
                    <a:pt x="279019" y="64007"/>
                  </a:lnTo>
                  <a:lnTo>
                    <a:pt x="279273" y="62102"/>
                  </a:lnTo>
                  <a:lnTo>
                    <a:pt x="279146" y="52324"/>
                  </a:lnTo>
                  <a:lnTo>
                    <a:pt x="278892" y="51307"/>
                  </a:lnTo>
                  <a:lnTo>
                    <a:pt x="278807" y="51053"/>
                  </a:lnTo>
                  <a:lnTo>
                    <a:pt x="278638" y="50672"/>
                  </a:lnTo>
                  <a:lnTo>
                    <a:pt x="278511" y="50291"/>
                  </a:lnTo>
                  <a:lnTo>
                    <a:pt x="271145" y="47497"/>
                  </a:lnTo>
                  <a:lnTo>
                    <a:pt x="268351" y="46989"/>
                  </a:lnTo>
                  <a:close/>
                </a:path>
                <a:path w="279400" h="154304">
                  <a:moveTo>
                    <a:pt x="231224" y="48894"/>
                  </a:moveTo>
                  <a:lnTo>
                    <a:pt x="217678" y="48894"/>
                  </a:lnTo>
                  <a:lnTo>
                    <a:pt x="217170" y="49149"/>
                  </a:lnTo>
                  <a:lnTo>
                    <a:pt x="216027" y="49529"/>
                  </a:lnTo>
                  <a:lnTo>
                    <a:pt x="232600" y="49529"/>
                  </a:lnTo>
                  <a:lnTo>
                    <a:pt x="231648" y="49149"/>
                  </a:lnTo>
                  <a:lnTo>
                    <a:pt x="231224" y="48894"/>
                  </a:lnTo>
                  <a:close/>
                </a:path>
                <a:path w="279400" h="154304">
                  <a:moveTo>
                    <a:pt x="225297" y="48259"/>
                  </a:moveTo>
                  <a:lnTo>
                    <a:pt x="223393" y="48259"/>
                  </a:lnTo>
                  <a:lnTo>
                    <a:pt x="218821" y="48513"/>
                  </a:lnTo>
                  <a:lnTo>
                    <a:pt x="217487" y="48894"/>
                  </a:lnTo>
                  <a:lnTo>
                    <a:pt x="231457" y="48894"/>
                  </a:lnTo>
                  <a:lnTo>
                    <a:pt x="230124" y="48513"/>
                  </a:lnTo>
                  <a:lnTo>
                    <a:pt x="225297" y="48259"/>
                  </a:lnTo>
                  <a:close/>
                </a:path>
                <a:path w="279400" h="154304">
                  <a:moveTo>
                    <a:pt x="223393" y="48259"/>
                  </a:moveTo>
                  <a:lnTo>
                    <a:pt x="222631" y="48259"/>
                  </a:lnTo>
                  <a:lnTo>
                    <a:pt x="219583" y="48513"/>
                  </a:lnTo>
                  <a:lnTo>
                    <a:pt x="218821" y="48513"/>
                  </a:lnTo>
                  <a:lnTo>
                    <a:pt x="223393" y="48259"/>
                  </a:lnTo>
                  <a:close/>
                </a:path>
                <a:path w="279400" h="154304">
                  <a:moveTo>
                    <a:pt x="226314" y="48259"/>
                  </a:moveTo>
                  <a:lnTo>
                    <a:pt x="225297" y="48259"/>
                  </a:lnTo>
                  <a:lnTo>
                    <a:pt x="230124" y="48513"/>
                  </a:lnTo>
                  <a:lnTo>
                    <a:pt x="229107" y="48513"/>
                  </a:lnTo>
                  <a:lnTo>
                    <a:pt x="226314" y="48259"/>
                  </a:lnTo>
                  <a:close/>
                </a:path>
              </a:pathLst>
            </a:custGeom>
            <a:solidFill>
              <a:srgbClr val="3A38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80766" y="4375530"/>
              <a:ext cx="800354" cy="154305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69004" y="4376801"/>
              <a:ext cx="603758" cy="153035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64330" y="4383658"/>
              <a:ext cx="665607" cy="183768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preencoded.pn</a:t>
            </a:r>
            <a:r>
              <a:rPr dirty="0" spc="75"/>
              <a:t> </a:t>
            </a:r>
            <a:r>
              <a:rPr dirty="0" spc="-50"/>
              <a:t>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sultan hafiz</dc:creator>
  <dcterms:created xsi:type="dcterms:W3CDTF">2025-12-18T13:43:49Z</dcterms:created>
  <dcterms:modified xsi:type="dcterms:W3CDTF">2025-12-18T13:43:49Z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2025-12-12T00:00:00Z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2025-12-18T00:00:00Z</vt:filetime>
  </property>
  <property fmtid="{D5CDD505-2E9C-101B-9397-08002B2CF9AE}" pid="5" name="Producer">
    <vt:lpwstr>Microsoft® Word for Microsoft 365</vt:lpwstr>
  </property>
</Properties>
</file>